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professors. For Milestone 1 of our project, we have established the full-stack architecture, polyglot database, secure authentication, and interactive knowledge bases for our Palmistry &amp; Tarot Intelligence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explain the domain in strict computer science terms: Tarot as a finite semantic knowledge graph with 78 nodes, and Palmistry as an anatomical computer vision problem with 21 landmark coordinates and crease ridge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uses an async microservices pattern with FastAPI, Next.js 14, and a polyglot database strategy separating relational auth data from flexible document payloads.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interactive dataset explorer interface. We digitized all 78 Tarot cards and 7 palm lines. Users can filter cards in real-time and simulate live 3-card spread draws.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user authentication, RBAC permission system, and seeker dashboard. Passwords are encrypted with bcrypt, sessions are managed with JWT, and users can customize their spiritual goals.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backend endpoints are strongly typed, validated with Pydantic, and self-documented via Swagger UI at /docs, enabling direct in-browser testing during viva defense.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In Milestone 1, we established all architectural, security, database, and knowledge foundations. In Milestone 2, we will integrate Google MediaPipe and OpenCV for computer vision, and connect generative AI for narrative report generation. Thank you! We are now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5486400" cy="320040"/>
          </a:xfrm>
          <a:prstGeom prst="rect">
            <a:avLst/>
          </a:prstGeom>
          <a:noFill/>
        </p:spPr>
        <p:txBody>
          <a:bodyPr wrap="none">
            <a:spAutoFit/>
          </a:bodyPr>
          <a:lstStyle/>
          <a:p>
            <a:pPr>
              <a:defRPr sz="1100" b="1">
                <a:solidFill>
                  <a:srgbClr val="38BDF8"/>
                </a:solidFill>
              </a:defRPr>
            </a:pPr>
            <a:r>
              <a:t>CAPSTONE PROJECT • MILESTONE 1 REVIEW</a:t>
            </a:r>
          </a:p>
        </p:txBody>
      </p:sp>
      <p:sp>
        <p:nvSpPr>
          <p:cNvPr id="4" name="TextBox 3"/>
          <p:cNvSpPr txBox="1"/>
          <p:nvPr/>
        </p:nvSpPr>
        <p:spPr>
          <a:xfrm>
            <a:off x="731520" y="1188720"/>
            <a:ext cx="5303520" cy="1645920"/>
          </a:xfrm>
          <a:prstGeom prst="rect">
            <a:avLst/>
          </a:prstGeom>
          <a:noFill/>
        </p:spPr>
        <p:txBody>
          <a:bodyPr wrap="square">
            <a:spAutoFit/>
          </a:bodyPr>
          <a:lstStyle/>
          <a:p>
            <a:pPr>
              <a:defRPr sz="3200" b="1">
                <a:solidFill>
                  <a:srgbClr val="F8FAFC"/>
                </a:solidFill>
              </a:defRPr>
            </a:pPr>
            <a:r>
              <a:t>Palmistry &amp; Tarot</a:t>
            </a:r>
            <a:br/>
            <a:r>
              <a:t>Intelligence Platform</a:t>
            </a:r>
          </a:p>
          <a:p>
            <a:pPr>
              <a:defRPr sz="1300">
                <a:solidFill>
                  <a:srgbClr val="CBD5E1"/>
                </a:solidFill>
              </a:defRPr>
            </a:pPr>
            <a:r>
              <a:t>A Multimodal AI Platform for Computer Vision &amp; Knowledge Graph-Driven Analysis</a:t>
            </a:r>
          </a:p>
        </p:txBody>
      </p:sp>
      <p:sp>
        <p:nvSpPr>
          <p:cNvPr id="5" name="Rounded Rectangle 4"/>
          <p:cNvSpPr/>
          <p:nvPr/>
        </p:nvSpPr>
        <p:spPr>
          <a:xfrm>
            <a:off x="731520" y="3017520"/>
            <a:ext cx="5303520"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108960"/>
            <a:ext cx="5029200" cy="548640"/>
          </a:xfrm>
          <a:prstGeom prst="rect">
            <a:avLst/>
          </a:prstGeom>
          <a:noFill/>
        </p:spPr>
        <p:txBody>
          <a:bodyPr wrap="square">
            <a:spAutoFit/>
          </a:bodyPr>
          <a:lstStyle/>
          <a:p>
            <a:pPr>
              <a:defRPr sz="1150" b="1">
                <a:solidFill>
                  <a:srgbClr val="38BDF8"/>
                </a:solidFill>
              </a:defRPr>
            </a:pPr>
            <a:r>
              <a:t>⚡ High-Performance Async Backend</a:t>
            </a:r>
          </a:p>
          <a:p>
            <a:pPr>
              <a:defRPr sz="950">
                <a:solidFill>
                  <a:srgbClr val="CBD5E1"/>
                </a:solidFill>
              </a:defRPr>
            </a:pPr>
            <a:r>
              <a:t>FastAPI (Python 3.11) with Pydantic schemas</a:t>
            </a:r>
          </a:p>
        </p:txBody>
      </p:sp>
      <p:sp>
        <p:nvSpPr>
          <p:cNvPr id="7" name="Rounded Rectangle 6"/>
          <p:cNvSpPr/>
          <p:nvPr/>
        </p:nvSpPr>
        <p:spPr>
          <a:xfrm>
            <a:off x="731520" y="3840480"/>
            <a:ext cx="5303520"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931920"/>
            <a:ext cx="5029200" cy="548640"/>
          </a:xfrm>
          <a:prstGeom prst="rect">
            <a:avLst/>
          </a:prstGeom>
          <a:noFill/>
        </p:spPr>
        <p:txBody>
          <a:bodyPr wrap="square">
            <a:spAutoFit/>
          </a:bodyPr>
          <a:lstStyle/>
          <a:p>
            <a:pPr>
              <a:defRPr sz="1150" b="1">
                <a:solidFill>
                  <a:srgbClr val="38BDF8"/>
                </a:solidFill>
              </a:defRPr>
            </a:pPr>
            <a:r>
              <a:t>🌐 Modern Glassmorphic Frontend</a:t>
            </a:r>
          </a:p>
          <a:p>
            <a:pPr>
              <a:defRPr sz="950">
                <a:solidFill>
                  <a:srgbClr val="CBD5E1"/>
                </a:solidFill>
              </a:defRPr>
            </a:pPr>
            <a:r>
              <a:t>Next.js 14 App Router + TailwindCSS</a:t>
            </a:r>
          </a:p>
        </p:txBody>
      </p:sp>
      <p:sp>
        <p:nvSpPr>
          <p:cNvPr id="9" name="Rounded Rectangle 8"/>
          <p:cNvSpPr/>
          <p:nvPr/>
        </p:nvSpPr>
        <p:spPr>
          <a:xfrm>
            <a:off x="731520" y="4663440"/>
            <a:ext cx="5303520"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754880"/>
            <a:ext cx="5029200" cy="548640"/>
          </a:xfrm>
          <a:prstGeom prst="rect">
            <a:avLst/>
          </a:prstGeom>
          <a:noFill/>
        </p:spPr>
        <p:txBody>
          <a:bodyPr wrap="square">
            <a:spAutoFit/>
          </a:bodyPr>
          <a:lstStyle/>
          <a:p>
            <a:pPr>
              <a:defRPr sz="1150" b="1">
                <a:solidFill>
                  <a:srgbClr val="38BDF8"/>
                </a:solidFill>
              </a:defRPr>
            </a:pPr>
            <a:r>
              <a:t>🛡️ Enterprise Auth &amp; 4-Tier RBAC</a:t>
            </a:r>
          </a:p>
          <a:p>
            <a:pPr>
              <a:defRPr sz="950">
                <a:solidFill>
                  <a:srgbClr val="CBD5E1"/>
                </a:solidFill>
              </a:defRPr>
            </a:pPr>
            <a:r>
              <a:t>Bcrypt password hashing &amp; JWT token lifecycle</a:t>
            </a:r>
          </a:p>
        </p:txBody>
      </p:sp>
      <p:sp>
        <p:nvSpPr>
          <p:cNvPr id="11" name="Rounded Rectangle 10"/>
          <p:cNvSpPr/>
          <p:nvPr/>
        </p:nvSpPr>
        <p:spPr>
          <a:xfrm>
            <a:off x="731520" y="5486400"/>
            <a:ext cx="5303520" cy="731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577840"/>
            <a:ext cx="5029200" cy="548640"/>
          </a:xfrm>
          <a:prstGeom prst="rect">
            <a:avLst/>
          </a:prstGeom>
          <a:noFill/>
        </p:spPr>
        <p:txBody>
          <a:bodyPr wrap="square">
            <a:spAutoFit/>
          </a:bodyPr>
          <a:lstStyle/>
          <a:p>
            <a:pPr>
              <a:defRPr sz="1150" b="1">
                <a:solidFill>
                  <a:srgbClr val="38BDF8"/>
                </a:solidFill>
              </a:defRPr>
            </a:pPr>
            <a:r>
              <a:t>📚 Digitized Core Knowledge Bases</a:t>
            </a:r>
          </a:p>
          <a:p>
            <a:pPr>
              <a:defRPr sz="950">
                <a:solidFill>
                  <a:srgbClr val="CBD5E1"/>
                </a:solidFill>
              </a:defRPr>
            </a:pPr>
            <a:r>
              <a:t>Complete 78-Card Tarot + 7-Line Palmistry Datasets</a:t>
            </a:r>
          </a:p>
        </p:txBody>
      </p:sp>
      <p:sp>
        <p:nvSpPr>
          <p:cNvPr id="13" name="Rounded Rectangle 12"/>
          <p:cNvSpPr/>
          <p:nvPr/>
        </p:nvSpPr>
        <p:spPr>
          <a:xfrm>
            <a:off x="6327648" y="1024127"/>
            <a:ext cx="5175504" cy="5486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6172200"/>
            <a:ext cx="5029200" cy="320040"/>
          </a:xfrm>
          <a:prstGeom prst="rect">
            <a:avLst/>
          </a:prstGeom>
          <a:noFill/>
        </p:spPr>
        <p:txBody>
          <a:bodyPr wrap="square">
            <a:spAutoFit/>
          </a:bodyPr>
          <a:lstStyle/>
          <a:p>
            <a:pPr>
              <a:defRPr sz="950" b="1">
                <a:solidFill>
                  <a:srgbClr val="38BDF8"/>
                </a:solidFill>
              </a:defRPr>
            </a:pPr>
            <a:r>
              <a:t>📷 Live Website Landing Page (Next.js 14)</a:t>
            </a:r>
          </a:p>
        </p:txBody>
      </p:sp>
      <p:pic>
        <p:nvPicPr>
          <p:cNvPr id="15" name="Picture 14" descr="website_hero_landing.jpg"/>
          <p:cNvPicPr>
            <a:picLocks noChangeAspect="1"/>
          </p:cNvPicPr>
          <p:nvPr/>
        </p:nvPicPr>
        <p:blipFill>
          <a:blip r:embed="rId2"/>
          <a:stretch>
            <a:fillRect/>
          </a:stretch>
        </p:blipFill>
        <p:spPr>
          <a:xfrm>
            <a:off x="6400800" y="1097280"/>
            <a:ext cx="5029200" cy="5029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DOMAIN FORMALIZATION</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Problem Statement &amp; Computational Domain Modeling</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83280"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3017520" cy="4389120"/>
          </a:xfrm>
          <a:prstGeom prst="rect">
            <a:avLst/>
          </a:prstGeom>
          <a:noFill/>
        </p:spPr>
        <p:txBody>
          <a:bodyPr wrap="square">
            <a:spAutoFit/>
          </a:bodyPr>
          <a:lstStyle/>
          <a:p>
            <a:pPr>
              <a:defRPr sz="1500" b="1">
                <a:solidFill>
                  <a:srgbClr val="38BDF8"/>
                </a:solidFill>
              </a:defRPr>
            </a:pPr>
            <a:r>
              <a:t>📌 Problem &amp; Motivation</a:t>
            </a:r>
          </a:p>
          <a:p>
            <a:pPr>
              <a:spcAft>
                <a:spcPts val="1200"/>
              </a:spcAft>
              <a:defRPr sz="1000">
                <a:solidFill>
                  <a:srgbClr val="94A3B8"/>
                </a:solidFill>
              </a:defRPr>
            </a:pPr>
            <a:r>
              <a:t>Transforming subjective symbols into structured computation.</a:t>
            </a:r>
          </a:p>
          <a:p>
            <a:pPr>
              <a:spcAft>
                <a:spcPts val="800"/>
              </a:spcAft>
              <a:defRPr sz="1050">
                <a:solidFill>
                  <a:srgbClr val="CBD5E1"/>
                </a:solidFill>
              </a:defRPr>
            </a:pPr>
            <a:r>
              <a:t>• Unstandardized Data: Traditional practices lack structured schemas and algorithmic consistency.</a:t>
            </a:r>
          </a:p>
          <a:p>
            <a:pPr>
              <a:spcAft>
                <a:spcPts val="800"/>
              </a:spcAft>
              <a:defRPr sz="1050">
                <a:solidFill>
                  <a:srgbClr val="CBD5E1"/>
                </a:solidFill>
              </a:defRPr>
            </a:pPr>
            <a:r>
              <a:t>• Multimodal AI Solution: Formalizes visual morphology and symbolic knowledge graphs into unified reflection metrics.</a:t>
            </a:r>
          </a:p>
          <a:p>
            <a:pPr>
              <a:spcAft>
                <a:spcPts val="800"/>
              </a:spcAft>
              <a:defRPr sz="1050">
                <a:solidFill>
                  <a:srgbClr val="CBD5E1"/>
                </a:solidFill>
              </a:defRPr>
            </a:pPr>
            <a:r>
              <a:t>• Milestone 1 Scope: Establishing clean API contracts, secure identity, and core reference knowledge bases.</a:t>
            </a:r>
          </a:p>
        </p:txBody>
      </p:sp>
      <p:sp>
        <p:nvSpPr>
          <p:cNvPr id="8" name="Rounded Rectangle 7"/>
          <p:cNvSpPr/>
          <p:nvPr/>
        </p:nvSpPr>
        <p:spPr>
          <a:xfrm>
            <a:off x="4398264" y="1463040"/>
            <a:ext cx="3383280" cy="48463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1144" y="1645920"/>
            <a:ext cx="3017520" cy="4389120"/>
          </a:xfrm>
          <a:prstGeom prst="rect">
            <a:avLst/>
          </a:prstGeom>
          <a:noFill/>
        </p:spPr>
        <p:txBody>
          <a:bodyPr wrap="square">
            <a:spAutoFit/>
          </a:bodyPr>
          <a:lstStyle/>
          <a:p>
            <a:pPr>
              <a:defRPr sz="1500" b="1">
                <a:solidFill>
                  <a:srgbClr val="A855F7"/>
                </a:solidFill>
              </a:defRPr>
            </a:pPr>
            <a:r>
              <a:t>🃏 Tarot: Knowledge Graph</a:t>
            </a:r>
          </a:p>
          <a:p>
            <a:pPr>
              <a:spcAft>
                <a:spcPts val="1200"/>
              </a:spcAft>
              <a:defRPr sz="1000">
                <a:solidFill>
                  <a:srgbClr val="94A3B8"/>
                </a:solidFill>
              </a:defRPr>
            </a:pPr>
            <a:r>
              <a:t>78 Discrete Semantic Nodes &amp; Spreads</a:t>
            </a:r>
          </a:p>
          <a:p>
            <a:pPr>
              <a:spcAft>
                <a:spcPts val="800"/>
              </a:spcAft>
              <a:defRPr sz="1050">
                <a:solidFill>
                  <a:srgbClr val="CBD5E1"/>
                </a:solidFill>
              </a:defRPr>
            </a:pPr>
            <a:r>
              <a:t>• 78 Discrete Nodes: 22 Major Arcana (life archetypes) + 56 Minor Arcana (4 elemental domains).</a:t>
            </a:r>
          </a:p>
          <a:p>
            <a:pPr>
              <a:spcAft>
                <a:spcPts val="800"/>
              </a:spcAft>
              <a:defRPr sz="1050">
                <a:solidFill>
                  <a:srgbClr val="CBD5E1"/>
                </a:solidFill>
              </a:defRPr>
            </a:pPr>
            <a:r>
              <a:t>• Binary Orientation State: Upright (direct expression) vs. Reversed (internalized block).</a:t>
            </a:r>
          </a:p>
          <a:p>
            <a:pPr>
              <a:spcAft>
                <a:spcPts val="800"/>
              </a:spcAft>
              <a:defRPr sz="1050">
                <a:solidFill>
                  <a:srgbClr val="CBD5E1"/>
                </a:solidFill>
              </a:defRPr>
            </a:pPr>
            <a:r>
              <a:t>• Positional Spreads: Multi-node directed graph (e.g. Node 1=Past, Node 2=Present, Node 3=Future).</a:t>
            </a:r>
          </a:p>
        </p:txBody>
      </p:sp>
      <p:sp>
        <p:nvSpPr>
          <p:cNvPr id="10" name="Rounded Rectangle 9"/>
          <p:cNvSpPr/>
          <p:nvPr/>
        </p:nvSpPr>
        <p:spPr>
          <a:xfrm>
            <a:off x="8065008" y="1463040"/>
            <a:ext cx="3383280"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645920"/>
            <a:ext cx="3017520" cy="4389120"/>
          </a:xfrm>
          <a:prstGeom prst="rect">
            <a:avLst/>
          </a:prstGeom>
          <a:noFill/>
        </p:spPr>
        <p:txBody>
          <a:bodyPr wrap="square">
            <a:spAutoFit/>
          </a:bodyPr>
          <a:lstStyle/>
          <a:p>
            <a:pPr>
              <a:defRPr sz="1500" b="1">
                <a:solidFill>
                  <a:srgbClr val="F59E0B"/>
                </a:solidFill>
              </a:defRPr>
            </a:pPr>
            <a:r>
              <a:t>✋ Palmistry: Computer Vision</a:t>
            </a:r>
          </a:p>
          <a:p>
            <a:pPr>
              <a:spcAft>
                <a:spcPts val="1200"/>
              </a:spcAft>
              <a:defRPr sz="1000">
                <a:solidFill>
                  <a:srgbClr val="94A3B8"/>
                </a:solidFill>
              </a:defRPr>
            </a:pPr>
            <a:r>
              <a:t>Geometric Landmarks &amp; Ridge Features</a:t>
            </a:r>
          </a:p>
          <a:p>
            <a:pPr>
              <a:spcAft>
                <a:spcPts val="800"/>
              </a:spcAft>
              <a:defRPr sz="1050">
                <a:solidFill>
                  <a:srgbClr val="CBD5E1"/>
                </a:solidFill>
              </a:defRPr>
            </a:pPr>
            <a:r>
              <a:t>• 21 Hand Landmarks: 3D coordinates extracted using Google MediaPipe framework.</a:t>
            </a:r>
          </a:p>
          <a:p>
            <a:pPr>
              <a:spcAft>
                <a:spcPts val="800"/>
              </a:spcAft>
              <a:defRPr sz="1050">
                <a:solidFill>
                  <a:srgbClr val="CBD5E1"/>
                </a:solidFill>
              </a:defRPr>
            </a:pPr>
            <a:r>
              <a:t>• ROI Segmentation: Isolates palm plane for perspective-corrected analysis.</a:t>
            </a:r>
          </a:p>
          <a:p>
            <a:pPr>
              <a:spcAft>
                <a:spcPts val="800"/>
              </a:spcAft>
              <a:defRPr sz="1050">
                <a:solidFill>
                  <a:srgbClr val="CBD5E1"/>
                </a:solidFill>
              </a:defRPr>
            </a:pPr>
            <a:r>
              <a:t>• Ridge Feature Vectors: Measures length, curvature, and continuity of major crease lines (Heart, Head, Life, Fate).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FULL-STACK ARCHITECTURE</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System Architecture &amp; Polyglot Data Strategy</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832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3017520" cy="3566160"/>
          </a:xfrm>
          <a:prstGeom prst="rect">
            <a:avLst/>
          </a:prstGeom>
          <a:noFill/>
        </p:spPr>
        <p:txBody>
          <a:bodyPr wrap="square">
            <a:spAutoFit/>
          </a:bodyPr>
          <a:lstStyle/>
          <a:p>
            <a:pPr>
              <a:defRPr sz="1400" b="1">
                <a:solidFill>
                  <a:srgbClr val="38BDF8"/>
                </a:solidFill>
              </a:defRPr>
            </a:pPr>
            <a:r>
              <a:t>🌐 Frontend Client</a:t>
            </a:r>
          </a:p>
          <a:p>
            <a:pPr>
              <a:spcAft>
                <a:spcPts val="1200"/>
              </a:spcAft>
              <a:defRPr sz="950">
                <a:solidFill>
                  <a:srgbClr val="94A3B8"/>
                </a:solidFill>
              </a:defRPr>
            </a:pPr>
            <a:r>
              <a:t>Next.js 14 • React • Tailwind</a:t>
            </a:r>
          </a:p>
          <a:p>
            <a:pPr>
              <a:spcAft>
                <a:spcPts val="600"/>
              </a:spcAft>
              <a:defRPr sz="1050">
                <a:solidFill>
                  <a:srgbClr val="CBD5E1"/>
                </a:solidFill>
              </a:defRPr>
            </a:pPr>
            <a:r>
              <a:t>✔ Next.js 14 App Router for rapid SSR &amp; client interactivity.</a:t>
            </a:r>
          </a:p>
          <a:p>
            <a:pPr>
              <a:spcAft>
                <a:spcPts val="600"/>
              </a:spcAft>
              <a:defRPr sz="1050">
                <a:solidFill>
                  <a:srgbClr val="CBD5E1"/>
                </a:solidFill>
              </a:defRPr>
            </a:pPr>
            <a:r>
              <a:t>✔ Cosmic dark glassmorphism theme with responsive UI.</a:t>
            </a:r>
          </a:p>
          <a:p>
            <a:pPr>
              <a:spcAft>
                <a:spcPts val="600"/>
              </a:spcAft>
              <a:defRPr sz="1050">
                <a:solidFill>
                  <a:srgbClr val="CBD5E1"/>
                </a:solidFill>
              </a:defRPr>
            </a:pPr>
            <a:r>
              <a:t>✔ Client-side JWT session handling &amp; state synchronization.</a:t>
            </a:r>
          </a:p>
        </p:txBody>
      </p:sp>
      <p:sp>
        <p:nvSpPr>
          <p:cNvPr id="8" name="Rounded Rectangle 7"/>
          <p:cNvSpPr/>
          <p:nvPr/>
        </p:nvSpPr>
        <p:spPr>
          <a:xfrm>
            <a:off x="4398264" y="1463040"/>
            <a:ext cx="3383280" cy="39319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1144" y="1645920"/>
            <a:ext cx="3017520" cy="3566160"/>
          </a:xfrm>
          <a:prstGeom prst="rect">
            <a:avLst/>
          </a:prstGeom>
          <a:noFill/>
        </p:spPr>
        <p:txBody>
          <a:bodyPr wrap="square">
            <a:spAutoFit/>
          </a:bodyPr>
          <a:lstStyle/>
          <a:p>
            <a:pPr>
              <a:defRPr sz="1400" b="1">
                <a:solidFill>
                  <a:srgbClr val="A855F7"/>
                </a:solidFill>
              </a:defRPr>
            </a:pPr>
            <a:r>
              <a:t>⚡ Async Backend</a:t>
            </a:r>
          </a:p>
          <a:p>
            <a:pPr>
              <a:spcAft>
                <a:spcPts val="1200"/>
              </a:spcAft>
              <a:defRPr sz="950">
                <a:solidFill>
                  <a:srgbClr val="94A3B8"/>
                </a:solidFill>
              </a:defRPr>
            </a:pPr>
            <a:r>
              <a:t>FastAPI • Python 3.11 • Pydantic</a:t>
            </a:r>
          </a:p>
          <a:p>
            <a:pPr>
              <a:spcAft>
                <a:spcPts val="600"/>
              </a:spcAft>
              <a:defRPr sz="1050">
                <a:solidFill>
                  <a:srgbClr val="CBD5E1"/>
                </a:solidFill>
              </a:defRPr>
            </a:pPr>
            <a:r>
              <a:t>✔ Asynchronous ASGI non-blocking event loop.</a:t>
            </a:r>
          </a:p>
          <a:p>
            <a:pPr>
              <a:spcAft>
                <a:spcPts val="600"/>
              </a:spcAft>
              <a:defRPr sz="1050">
                <a:solidFill>
                  <a:srgbClr val="CBD5E1"/>
                </a:solidFill>
              </a:defRPr>
            </a:pPr>
            <a:r>
              <a:t>✔ Strict Pydantic request/response schema validation.</a:t>
            </a:r>
          </a:p>
          <a:p>
            <a:pPr>
              <a:spcAft>
                <a:spcPts val="600"/>
              </a:spcAft>
              <a:defRPr sz="1050">
                <a:solidFill>
                  <a:srgbClr val="CBD5E1"/>
                </a:solidFill>
              </a:defRPr>
            </a:pPr>
            <a:r>
              <a:t>✔ Auto-generated OpenAPI / Swagger live testing interface.</a:t>
            </a:r>
          </a:p>
        </p:txBody>
      </p:sp>
      <p:sp>
        <p:nvSpPr>
          <p:cNvPr id="10" name="Rounded Rectangle 9"/>
          <p:cNvSpPr/>
          <p:nvPr/>
        </p:nvSpPr>
        <p:spPr>
          <a:xfrm>
            <a:off x="8065008" y="1463040"/>
            <a:ext cx="3383280"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645920"/>
            <a:ext cx="3017520" cy="3566160"/>
          </a:xfrm>
          <a:prstGeom prst="rect">
            <a:avLst/>
          </a:prstGeom>
          <a:noFill/>
        </p:spPr>
        <p:txBody>
          <a:bodyPr wrap="square">
            <a:spAutoFit/>
          </a:bodyPr>
          <a:lstStyle/>
          <a:p>
            <a:pPr>
              <a:defRPr sz="1400" b="1">
                <a:solidFill>
                  <a:srgbClr val="F59E0B"/>
                </a:solidFill>
              </a:defRPr>
            </a:pPr>
            <a:r>
              <a:t>🗄️ Polyglot Database</a:t>
            </a:r>
          </a:p>
          <a:p>
            <a:pPr>
              <a:spcAft>
                <a:spcPts val="1200"/>
              </a:spcAft>
              <a:defRPr sz="950">
                <a:solidFill>
                  <a:srgbClr val="94A3B8"/>
                </a:solidFill>
              </a:defRPr>
            </a:pPr>
            <a:r>
              <a:t>PostgreSQL / SQLite • MongoDB • Redis</a:t>
            </a:r>
          </a:p>
          <a:p>
            <a:pPr>
              <a:spcAft>
                <a:spcPts val="600"/>
              </a:spcAft>
              <a:defRPr sz="1050">
                <a:solidFill>
                  <a:srgbClr val="CBD5E1"/>
                </a:solidFill>
              </a:defRPr>
            </a:pPr>
            <a:r>
              <a:t>✔ Relational SQL: ACID compliance for User Auth &amp; RBAC.</a:t>
            </a:r>
          </a:p>
          <a:p>
            <a:pPr>
              <a:spcAft>
                <a:spcPts val="600"/>
              </a:spcAft>
              <a:defRPr sz="1050">
                <a:solidFill>
                  <a:srgbClr val="CBD5E1"/>
                </a:solidFill>
              </a:defRPr>
            </a:pPr>
            <a:r>
              <a:t>✔ MongoDB: Schema-less store for 21-point hand coordinates &amp; AI logs.</a:t>
            </a:r>
          </a:p>
          <a:p>
            <a:pPr>
              <a:spcAft>
                <a:spcPts val="600"/>
              </a:spcAft>
              <a:defRPr sz="1050">
                <a:solidFill>
                  <a:srgbClr val="CBD5E1"/>
                </a:solidFill>
              </a:defRPr>
            </a:pPr>
            <a:r>
              <a:t>✔ Redis: Sub-millisecond JWT blacklist token checking &amp; caching.</a:t>
            </a:r>
          </a:p>
        </p:txBody>
      </p:sp>
      <p:sp>
        <p:nvSpPr>
          <p:cNvPr id="12" name="Rounded Rectangle 11"/>
          <p:cNvSpPr/>
          <p:nvPr/>
        </p:nvSpPr>
        <p:spPr>
          <a:xfrm>
            <a:off x="731520" y="5577840"/>
            <a:ext cx="10728655" cy="7772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50992"/>
            <a:ext cx="10332720" cy="640080"/>
          </a:xfrm>
          <a:prstGeom prst="rect">
            <a:avLst/>
          </a:prstGeom>
          <a:noFill/>
        </p:spPr>
        <p:txBody>
          <a:bodyPr wrap="square">
            <a:spAutoFit/>
          </a:bodyPr>
          <a:lstStyle/>
          <a:p>
            <a:pPr>
              <a:defRPr sz="1000">
                <a:solidFill>
                  <a:srgbClr val="38BDF8"/>
                </a:solidFill>
              </a:defRPr>
            </a:pPr>
            <a:r>
              <a:t>💡 Polyglot Strategy: Relational SQL guarantees ACID transactions for users/roles, while MongoDB stores high-dimensional AI &amp; CV telemetry without rigid schema migration overhead.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CORE DATASETS &amp; SIMULATOR</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Digitized Knowledge Bases &amp; Draw Simulator</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206240" cy="4846320"/>
          </a:xfrm>
          <a:prstGeom prst="rect">
            <a:avLst/>
          </a:prstGeom>
          <a:noFill/>
        </p:spPr>
        <p:txBody>
          <a:bodyPr wrap="square">
            <a:spAutoFit/>
          </a:bodyPr>
          <a:lstStyle/>
          <a:p>
            <a:pPr>
              <a:spcAft>
                <a:spcPts val="200"/>
              </a:spcAft>
            </a:pPr>
            <a:r>
              <a:rPr b="1" sz="1200">
                <a:solidFill>
                  <a:srgbClr val="38BDF8"/>
                </a:solidFill>
              </a:rPr>
              <a:t>📚 78-Card Tarot Dataset
</a:t>
            </a:r>
          </a:p>
          <a:p>
            <a:pPr>
              <a:spcAft>
                <a:spcPts val="1000"/>
              </a:spcAft>
            </a:pPr>
            <a:r>
              <a:rPr sz="1000">
                <a:solidFill>
                  <a:srgbClr val="CBD5E1"/>
                </a:solidFill>
              </a:rPr>
              <a:t>Complete 22 Major Arcana + 56 Minor Arcana (Wands, Cups, Swords, Pentacles) with keywords and upright/reversed definitions.</a:t>
            </a:r>
          </a:p>
          <a:p>
            <a:pPr>
              <a:spcAft>
                <a:spcPts val="200"/>
              </a:spcAft>
            </a:pPr>
            <a:r>
              <a:rPr b="1" sz="1200">
                <a:solidFill>
                  <a:srgbClr val="38BDF8"/>
                </a:solidFill>
              </a:rPr>
              <a:t>✋ 7-Line Palmistry Reference
</a:t>
            </a:r>
          </a:p>
          <a:p>
            <a:pPr>
              <a:spcAft>
                <a:spcPts val="1000"/>
              </a:spcAft>
            </a:pPr>
            <a:r>
              <a:rPr sz="1000">
                <a:solidFill>
                  <a:srgbClr val="CBD5E1"/>
                </a:solidFill>
              </a:rPr>
              <a:t>Heart, Head, Life, Fate, Sun, Mercury, and Girdle lines mapped with morphological variation rules.</a:t>
            </a:r>
          </a:p>
          <a:p>
            <a:pPr>
              <a:spcAft>
                <a:spcPts val="200"/>
              </a:spcAft>
            </a:pPr>
            <a:r>
              <a:rPr b="1" sz="1200">
                <a:solidFill>
                  <a:srgbClr val="38BDF8"/>
                </a:solidFill>
              </a:rPr>
              <a:t>🎲 Interactive Draw Simulator
</a:t>
            </a:r>
          </a:p>
          <a:p>
            <a:pPr>
              <a:spcAft>
                <a:spcPts val="1000"/>
              </a:spcAft>
            </a:pPr>
            <a:r>
              <a:rPr sz="1000">
                <a:solidFill>
                  <a:srgbClr val="CBD5E1"/>
                </a:solidFill>
              </a:rPr>
              <a:t>Real-time pseudo-random sampling of 1-card, 3-card (Past/Present/Future), and 5-card spreads with dynamic orientation.</a:t>
            </a:r>
          </a:p>
          <a:p>
            <a:pPr>
              <a:spcAft>
                <a:spcPts val="200"/>
              </a:spcAft>
            </a:pPr>
            <a:r>
              <a:rPr b="1" sz="1200">
                <a:solidFill>
                  <a:srgbClr val="38BDF8"/>
                </a:solidFill>
              </a:rPr>
              <a:t>🔍 Live Search &amp; Filter APIs
</a:t>
            </a:r>
          </a:p>
          <a:p>
            <a:pPr>
              <a:spcAft>
                <a:spcPts val="1000"/>
              </a:spcAft>
            </a:pPr>
            <a:r>
              <a:rPr sz="1000">
                <a:solidFill>
                  <a:srgbClr val="CBD5E1"/>
                </a:solidFill>
              </a:rPr>
              <a:t>Instant in-memory filtering by suit, arcana type, element, and keyword via `/api/v1/datasets/tarot/cards`.</a:t>
            </a:r>
          </a:p>
        </p:txBody>
      </p:sp>
      <p:sp>
        <p:nvSpPr>
          <p:cNvPr id="7" name="Rounded Rectangle 6"/>
          <p:cNvSpPr/>
          <p:nvPr/>
        </p:nvSpPr>
        <p:spPr>
          <a:xfrm>
            <a:off x="5047488" y="1389888"/>
            <a:ext cx="6455664" cy="51206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6172199"/>
            <a:ext cx="6309360" cy="320040"/>
          </a:xfrm>
          <a:prstGeom prst="rect">
            <a:avLst/>
          </a:prstGeom>
          <a:noFill/>
        </p:spPr>
        <p:txBody>
          <a:bodyPr wrap="square">
            <a:spAutoFit/>
          </a:bodyPr>
          <a:lstStyle/>
          <a:p>
            <a:pPr>
              <a:defRPr sz="950" b="1">
                <a:solidFill>
                  <a:srgbClr val="38BDF8"/>
                </a:solidFill>
              </a:defRPr>
            </a:pPr>
            <a:r>
              <a:t>📷 Interactive Tarot &amp; Palmistry Explorer (/datasets)</a:t>
            </a:r>
          </a:p>
        </p:txBody>
      </p:sp>
      <p:pic>
        <p:nvPicPr>
          <p:cNvPr id="9" name="Picture 8" descr="website_datasets_explorer.jpg"/>
          <p:cNvPicPr>
            <a:picLocks noChangeAspect="1"/>
          </p:cNvPicPr>
          <p:nvPr/>
        </p:nvPicPr>
        <p:blipFill>
          <a:blip r:embed="rId2"/>
          <a:stretch>
            <a:fillRect/>
          </a:stretch>
        </p:blipFill>
        <p:spPr>
          <a:xfrm>
            <a:off x="5120640" y="1463040"/>
            <a:ext cx="6309360"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SECURITY &amp; USER INTERFACE</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User Authentication, 4-Tier RBAC &amp; Dashboard</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206240" cy="4846320"/>
          </a:xfrm>
          <a:prstGeom prst="rect">
            <a:avLst/>
          </a:prstGeom>
          <a:noFill/>
        </p:spPr>
        <p:txBody>
          <a:bodyPr wrap="square">
            <a:spAutoFit/>
          </a:bodyPr>
          <a:lstStyle/>
          <a:p>
            <a:pPr>
              <a:spcAft>
                <a:spcPts val="200"/>
              </a:spcAft>
            </a:pPr>
            <a:r>
              <a:rPr b="1" sz="1200">
                <a:solidFill>
                  <a:srgbClr val="A855F7"/>
                </a:solidFill>
              </a:rPr>
              <a:t>🔐 Salted Bcrypt Password Hashing
</a:t>
            </a:r>
          </a:p>
          <a:p>
            <a:pPr>
              <a:spcAft>
                <a:spcPts val="1000"/>
              </a:spcAft>
            </a:pPr>
            <a:r>
              <a:rPr sz="1000">
                <a:solidFill>
                  <a:srgbClr val="CBD5E1"/>
                </a:solidFill>
              </a:rPr>
              <a:t>Zero plaintext passwords. Evaluated with one-way cost factor 12 hashing.</a:t>
            </a:r>
          </a:p>
          <a:p>
            <a:pPr>
              <a:spcAft>
                <a:spcPts val="200"/>
              </a:spcAft>
            </a:pPr>
            <a:r>
              <a:rPr b="1" sz="1200">
                <a:solidFill>
                  <a:srgbClr val="A855F7"/>
                </a:solidFill>
              </a:rPr>
              <a:t>🎫 Dual JWT Stateless Authentication
</a:t>
            </a:r>
          </a:p>
          <a:p>
            <a:pPr>
              <a:spcAft>
                <a:spcPts val="1000"/>
              </a:spcAft>
            </a:pPr>
            <a:r>
              <a:rPr sz="1000">
                <a:solidFill>
                  <a:srgbClr val="CBD5E1"/>
                </a:solidFill>
              </a:rPr>
              <a:t>15-minute Access Tokens + 7-day Refresh Tokens with instant Redis token blacklisting on logout.</a:t>
            </a:r>
          </a:p>
          <a:p>
            <a:pPr>
              <a:spcAft>
                <a:spcPts val="200"/>
              </a:spcAft>
            </a:pPr>
            <a:r>
              <a:rPr b="1" sz="1200">
                <a:solidFill>
                  <a:srgbClr val="A855F7"/>
                </a:solidFill>
              </a:rPr>
              <a:t>🛡️ 4-Tier Granular RBAC Roles
</a:t>
            </a:r>
          </a:p>
          <a:p>
            <a:pPr>
              <a:spcAft>
                <a:spcPts val="1000"/>
              </a:spcAft>
            </a:pPr>
            <a:r>
              <a:rPr sz="1000">
                <a:solidFill>
                  <a:srgbClr val="CBD5E1"/>
                </a:solidFill>
              </a:rPr>
              <a:t>Enforces access across `guest`, `user`, `tarot_reader`, and `admin` via FastAPI dependency injection.</a:t>
            </a:r>
          </a:p>
          <a:p>
            <a:pPr>
              <a:spcAft>
                <a:spcPts val="200"/>
              </a:spcAft>
            </a:pPr>
            <a:r>
              <a:rPr b="1" sz="1200">
                <a:solidFill>
                  <a:srgbClr val="A855F7"/>
                </a:solidFill>
              </a:rPr>
              <a:t>👤 Seeker Dashboard &amp; Profiles
</a:t>
            </a:r>
          </a:p>
          <a:p>
            <a:pPr>
              <a:spcAft>
                <a:spcPts val="1000"/>
              </a:spcAft>
            </a:pPr>
            <a:r>
              <a:rPr sz="1000">
                <a:solidFill>
                  <a:srgbClr val="CBD5E1"/>
                </a:solidFill>
              </a:rPr>
              <a:t>Personalized user preferences, date of birth, spiritual goals, and preferred card spreads.</a:t>
            </a:r>
          </a:p>
        </p:txBody>
      </p:sp>
      <p:sp>
        <p:nvSpPr>
          <p:cNvPr id="7" name="Rounded Rectangle 6"/>
          <p:cNvSpPr/>
          <p:nvPr/>
        </p:nvSpPr>
        <p:spPr>
          <a:xfrm>
            <a:off x="5047488" y="1389888"/>
            <a:ext cx="6455664" cy="51206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6172199"/>
            <a:ext cx="6309360" cy="320040"/>
          </a:xfrm>
          <a:prstGeom prst="rect">
            <a:avLst/>
          </a:prstGeom>
          <a:noFill/>
        </p:spPr>
        <p:txBody>
          <a:bodyPr wrap="square">
            <a:spAutoFit/>
          </a:bodyPr>
          <a:lstStyle/>
          <a:p>
            <a:pPr>
              <a:defRPr sz="950" b="1">
                <a:solidFill>
                  <a:srgbClr val="38BDF8"/>
                </a:solidFill>
              </a:defRPr>
            </a:pPr>
            <a:r>
              <a:t>📷 Authenticated Seeker Dashboard &amp; Profile Preferences (/dashboard)</a:t>
            </a:r>
          </a:p>
        </p:txBody>
      </p:sp>
      <p:pic>
        <p:nvPicPr>
          <p:cNvPr id="9" name="Picture 8" descr="website_dashboard_profile.jpg"/>
          <p:cNvPicPr>
            <a:picLocks noChangeAspect="1"/>
          </p:cNvPicPr>
          <p:nvPr/>
        </p:nvPicPr>
        <p:blipFill>
          <a:blip r:embed="rId2"/>
          <a:stretch>
            <a:fillRect/>
          </a:stretch>
        </p:blipFill>
        <p:spPr>
          <a:xfrm>
            <a:off x="5120640" y="1463040"/>
            <a:ext cx="6309360" cy="46634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API ECOSYSTEM &amp; VALIDATION</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Verified REST API &amp; Interactive Swagger Specs</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206240" cy="4846320"/>
          </a:xfrm>
          <a:prstGeom prst="rect">
            <a:avLst/>
          </a:prstGeom>
          <a:noFill/>
        </p:spPr>
        <p:txBody>
          <a:bodyPr wrap="square">
            <a:spAutoFit/>
          </a:bodyPr>
          <a:lstStyle/>
          <a:p>
            <a:pPr>
              <a:spcAft>
                <a:spcPts val="200"/>
              </a:spcAft>
            </a:pPr>
            <a:r>
              <a:rPr b="1" sz="1200">
                <a:solidFill>
                  <a:srgbClr val="10B981"/>
                </a:solidFill>
              </a:rPr>
              <a:t>🔌 100% Typed REST Endpoints
</a:t>
            </a:r>
          </a:p>
          <a:p>
            <a:pPr>
              <a:spcAft>
                <a:spcPts val="1000"/>
              </a:spcAft>
            </a:pPr>
            <a:r>
              <a:rPr sz="1000">
                <a:solidFill>
                  <a:srgbClr val="CBD5E1"/>
                </a:solidFill>
              </a:rPr>
              <a:t>Built using FastAPI routers: `/auth`, `/users`, `/profiles`, and `/datasets`.</a:t>
            </a:r>
          </a:p>
          <a:p>
            <a:pPr>
              <a:spcAft>
                <a:spcPts val="200"/>
              </a:spcAft>
            </a:pPr>
            <a:r>
              <a:rPr b="1" sz="1200">
                <a:solidFill>
                  <a:srgbClr val="10B981"/>
                </a:solidFill>
              </a:rPr>
              <a:t>🛡️ Automatic Pydantic Validation
</a:t>
            </a:r>
          </a:p>
          <a:p>
            <a:pPr>
              <a:spcAft>
                <a:spcPts val="1000"/>
              </a:spcAft>
            </a:pPr>
            <a:r>
              <a:rPr sz="1000">
                <a:solidFill>
                  <a:srgbClr val="CBD5E1"/>
                </a:solidFill>
              </a:rPr>
              <a:t>Incoming request bodies and outgoing responses are strictly validated against schema models.</a:t>
            </a:r>
          </a:p>
          <a:p>
            <a:pPr>
              <a:spcAft>
                <a:spcPts val="200"/>
              </a:spcAft>
            </a:pPr>
            <a:r>
              <a:rPr b="1" sz="1200">
                <a:solidFill>
                  <a:srgbClr val="10B981"/>
                </a:solidFill>
              </a:rPr>
              <a:t>📖 Interactive Swagger UI (/docs)
</a:t>
            </a:r>
          </a:p>
          <a:p>
            <a:pPr>
              <a:spcAft>
                <a:spcPts val="1000"/>
              </a:spcAft>
            </a:pPr>
            <a:r>
              <a:rPr sz="1000">
                <a:solidFill>
                  <a:srgbClr val="CBD5E1"/>
                </a:solidFill>
              </a:rPr>
              <a:t>Built-in OpenAPI interface allowing examiners to authenticate with JWT and test live queries directly in the browser.</a:t>
            </a:r>
          </a:p>
          <a:p>
            <a:pPr>
              <a:spcAft>
                <a:spcPts val="200"/>
              </a:spcAft>
            </a:pPr>
            <a:r>
              <a:rPr b="1" sz="1200">
                <a:solidFill>
                  <a:srgbClr val="10B981"/>
                </a:solidFill>
              </a:rPr>
              <a:t>✅ Zero-Config Fallback Mode
</a:t>
            </a:r>
          </a:p>
          <a:p>
            <a:pPr>
              <a:spcAft>
                <a:spcPts val="1000"/>
              </a:spcAft>
            </a:pPr>
            <a:r>
              <a:rPr sz="1000">
                <a:solidFill>
                  <a:srgbClr val="CBD5E1"/>
                </a:solidFill>
              </a:rPr>
              <a:t>Runs out-of-the-box with SQLite and in-memory caches, plus Docker Compose support for production.</a:t>
            </a:r>
          </a:p>
        </p:txBody>
      </p:sp>
      <p:sp>
        <p:nvSpPr>
          <p:cNvPr id="7" name="Rounded Rectangle 6"/>
          <p:cNvSpPr/>
          <p:nvPr/>
        </p:nvSpPr>
        <p:spPr>
          <a:xfrm>
            <a:off x="5047488" y="1389888"/>
            <a:ext cx="6455664" cy="51206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6172199"/>
            <a:ext cx="6309360" cy="320040"/>
          </a:xfrm>
          <a:prstGeom prst="rect">
            <a:avLst/>
          </a:prstGeom>
          <a:noFill/>
        </p:spPr>
        <p:txBody>
          <a:bodyPr wrap="square">
            <a:spAutoFit/>
          </a:bodyPr>
          <a:lstStyle/>
          <a:p>
            <a:pPr>
              <a:defRPr sz="950" b="1">
                <a:solidFill>
                  <a:srgbClr val="38BDF8"/>
                </a:solidFill>
              </a:defRPr>
            </a:pPr>
            <a:r>
              <a:t>📷 FastAPI Interactive Swagger Workbench (/docs)</a:t>
            </a:r>
          </a:p>
        </p:txBody>
      </p:sp>
      <p:pic>
        <p:nvPicPr>
          <p:cNvPr id="9" name="Picture 8" descr="website_swagger_docs.jpg"/>
          <p:cNvPicPr>
            <a:picLocks noChangeAspect="1"/>
          </p:cNvPicPr>
          <p:nvPr/>
        </p:nvPicPr>
        <p:blipFill>
          <a:blip r:embed="rId2"/>
          <a:stretch>
            <a:fillRect/>
          </a:stretch>
        </p:blipFill>
        <p:spPr>
          <a:xfrm>
            <a:off x="5120640" y="1463040"/>
            <a:ext cx="6309360" cy="4663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1100" b="1">
                <a:solidFill>
                  <a:srgbClr val="38BDF8"/>
                </a:solidFill>
              </a:defRPr>
            </a:pPr>
            <a:r>
              <a:t>PROJECT STATUS &amp; FUTURE SCOPE</a:t>
            </a:r>
          </a:p>
        </p:txBody>
      </p:sp>
      <p:sp>
        <p:nvSpPr>
          <p:cNvPr id="4" name="TextBox 3"/>
          <p:cNvSpPr txBox="1"/>
          <p:nvPr/>
        </p:nvSpPr>
        <p:spPr>
          <a:xfrm>
            <a:off x="731520" y="640080"/>
            <a:ext cx="10728655" cy="548640"/>
          </a:xfrm>
          <a:prstGeom prst="rect">
            <a:avLst/>
          </a:prstGeom>
          <a:noFill/>
        </p:spPr>
        <p:txBody>
          <a:bodyPr wrap="square" lIns="0" rIns="0" tIns="0" bIns="0">
            <a:spAutoFit/>
          </a:bodyPr>
          <a:lstStyle/>
          <a:p>
            <a:pPr>
              <a:defRPr sz="2200" b="1">
                <a:solidFill>
                  <a:srgbClr val="F8FAFC"/>
                </a:solidFill>
              </a:defRPr>
            </a:pPr>
            <a:r>
              <a:t>Milestone 1 Summary &amp; Phase 2 Roadmap</a:t>
            </a:r>
          </a:p>
        </p:txBody>
      </p:sp>
      <p:sp>
        <p:nvSpPr>
          <p:cNvPr id="5" name="Rectangle 4"/>
          <p:cNvSpPr/>
          <p:nvPr/>
        </p:nvSpPr>
        <p:spPr>
          <a:xfrm>
            <a:off x="731520" y="12344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66360" cy="48463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00600" cy="4389120"/>
          </a:xfrm>
          <a:prstGeom prst="rect">
            <a:avLst/>
          </a:prstGeom>
          <a:noFill/>
        </p:spPr>
        <p:txBody>
          <a:bodyPr wrap="square">
            <a:spAutoFit/>
          </a:bodyPr>
          <a:lstStyle/>
          <a:p>
            <a:pPr>
              <a:spcAft>
                <a:spcPts val="1000"/>
              </a:spcAft>
              <a:defRPr sz="1500" b="1">
                <a:solidFill>
                  <a:srgbClr val="10B981"/>
                </a:solidFill>
              </a:defRPr>
            </a:pPr>
            <a:r>
              <a:t>✅ Milestone 1: Delivered Foundations</a:t>
            </a:r>
          </a:p>
          <a:p>
            <a:pPr>
              <a:spcAft>
                <a:spcPts val="400"/>
              </a:spcAft>
              <a:defRPr sz="1050">
                <a:solidFill>
                  <a:srgbClr val="CBD5E1"/>
                </a:solidFill>
              </a:defRPr>
            </a:pPr>
            <a:r>
              <a:t>✔ Async Microservices Architecture (FastAPI + Next.js 14)</a:t>
            </a:r>
          </a:p>
          <a:p>
            <a:pPr>
              <a:spcAft>
                <a:spcPts val="400"/>
              </a:spcAft>
              <a:defRPr sz="1050">
                <a:solidFill>
                  <a:srgbClr val="CBD5E1"/>
                </a:solidFill>
              </a:defRPr>
            </a:pPr>
            <a:r>
              <a:t>✔ Polyglot Persistence (SQL + MongoDB Document + Redis)</a:t>
            </a:r>
          </a:p>
          <a:p>
            <a:pPr>
              <a:spcAft>
                <a:spcPts val="400"/>
              </a:spcAft>
              <a:defRPr sz="1050">
                <a:solidFill>
                  <a:srgbClr val="CBD5E1"/>
                </a:solidFill>
              </a:defRPr>
            </a:pPr>
            <a:r>
              <a:t>✔ Bcrypt Password Hashing &amp; Stateless JWT Auth</a:t>
            </a:r>
          </a:p>
          <a:p>
            <a:pPr>
              <a:spcAft>
                <a:spcPts val="400"/>
              </a:spcAft>
              <a:defRPr sz="1050">
                <a:solidFill>
                  <a:srgbClr val="CBD5E1"/>
                </a:solidFill>
              </a:defRPr>
            </a:pPr>
            <a:r>
              <a:t>✔ 4-Tier RBAC Permission Hierarchy</a:t>
            </a:r>
          </a:p>
          <a:p>
            <a:pPr>
              <a:spcAft>
                <a:spcPts val="400"/>
              </a:spcAft>
              <a:defRPr sz="1050">
                <a:solidFill>
                  <a:srgbClr val="CBD5E1"/>
                </a:solidFill>
              </a:defRPr>
            </a:pPr>
            <a:r>
              <a:t>✔ Complete 78-Card Tarot &amp; 7-Line Palmistry Datasets</a:t>
            </a:r>
          </a:p>
          <a:p>
            <a:pPr>
              <a:spcAft>
                <a:spcPts val="400"/>
              </a:spcAft>
              <a:defRPr sz="1050">
                <a:solidFill>
                  <a:srgbClr val="CBD5E1"/>
                </a:solidFill>
              </a:defRPr>
            </a:pPr>
            <a:r>
              <a:t>✔ Interactive Card Draw Simulator &amp; Search Filters</a:t>
            </a:r>
          </a:p>
          <a:p>
            <a:pPr>
              <a:spcAft>
                <a:spcPts val="400"/>
              </a:spcAft>
              <a:defRPr sz="1050">
                <a:solidFill>
                  <a:srgbClr val="CBD5E1"/>
                </a:solidFill>
              </a:defRPr>
            </a:pPr>
            <a:r>
              <a:t>✔ Seeker Dashboard &amp; Profile Customization</a:t>
            </a:r>
          </a:p>
          <a:p>
            <a:pPr>
              <a:spcAft>
                <a:spcPts val="400"/>
              </a:spcAft>
              <a:defRPr sz="1050">
                <a:solidFill>
                  <a:srgbClr val="CBD5E1"/>
                </a:solidFill>
              </a:defRPr>
            </a:pPr>
            <a:r>
              <a:t>✔ Live OpenAPI / Swagger API Workbench</a:t>
            </a:r>
          </a:p>
        </p:txBody>
      </p:sp>
      <p:sp>
        <p:nvSpPr>
          <p:cNvPr id="8" name="Rounded Rectangle 7"/>
          <p:cNvSpPr/>
          <p:nvPr/>
        </p:nvSpPr>
        <p:spPr>
          <a:xfrm>
            <a:off x="6263640" y="1463040"/>
            <a:ext cx="5166360"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800600" cy="4389120"/>
          </a:xfrm>
          <a:prstGeom prst="rect">
            <a:avLst/>
          </a:prstGeom>
          <a:noFill/>
        </p:spPr>
        <p:txBody>
          <a:bodyPr wrap="square">
            <a:spAutoFit/>
          </a:bodyPr>
          <a:lstStyle/>
          <a:p>
            <a:pPr>
              <a:spcAft>
                <a:spcPts val="1000"/>
              </a:spcAft>
              <a:defRPr sz="1500" b="1">
                <a:solidFill>
                  <a:srgbClr val="38BDF8"/>
                </a:solidFill>
              </a:defRPr>
            </a:pPr>
            <a:r>
              <a:t>🚀 Phase 2: Future Development Roadmap</a:t>
            </a:r>
          </a:p>
          <a:p>
            <a:pPr>
              <a:spcAft>
                <a:spcPts val="400"/>
              </a:spcAft>
            </a:pPr>
            <a:r>
              <a:rPr b="1" sz="1050">
                <a:solidFill>
                  <a:srgbClr val="38BDF8"/>
                </a:solidFill>
              </a:rPr>
              <a:t>➔ MediaPipe 21-Point Palm Detection: </a:t>
            </a:r>
            <a:r>
              <a:rPr sz="1000">
                <a:solidFill>
                  <a:srgbClr val="CBD5E1"/>
                </a:solidFill>
              </a:rPr>
              <a:t>Live 3D hand landmark coordinate mapping.</a:t>
            </a:r>
          </a:p>
          <a:p>
            <a:pPr>
              <a:spcAft>
                <a:spcPts val="400"/>
              </a:spcAft>
            </a:pPr>
            <a:r>
              <a:rPr b="1" sz="1050">
                <a:solidFill>
                  <a:srgbClr val="38BDF8"/>
                </a:solidFill>
              </a:rPr>
              <a:t>➔ OpenCV Line Crease Segmentation: </a:t>
            </a:r>
            <a:r>
              <a:rPr sz="1000">
                <a:solidFill>
                  <a:srgbClr val="CBD5E1"/>
                </a:solidFill>
              </a:rPr>
              <a:t>Adaptive CLAHE &amp; Canny edge ridge extraction.</a:t>
            </a:r>
          </a:p>
          <a:p>
            <a:pPr>
              <a:spcAft>
                <a:spcPts val="400"/>
              </a:spcAft>
            </a:pPr>
            <a:r>
              <a:rPr b="1" sz="1050">
                <a:solidFill>
                  <a:srgbClr val="38BDF8"/>
                </a:solidFill>
              </a:rPr>
              <a:t>➔ Generative AI / LLM Narrative Synthesis: </a:t>
            </a:r>
            <a:r>
              <a:rPr sz="1000">
                <a:solidFill>
                  <a:srgbClr val="CBD5E1"/>
                </a:solidFill>
              </a:rPr>
              <a:t>Dynamic multi-turn prompt pipeline for custom readings.</a:t>
            </a:r>
          </a:p>
          <a:p>
            <a:pPr>
              <a:spcAft>
                <a:spcPts val="400"/>
              </a:spcAft>
            </a:pPr>
            <a:r>
              <a:rPr b="1" sz="1050">
                <a:solidFill>
                  <a:srgbClr val="38BDF8"/>
                </a:solidFill>
              </a:rPr>
              <a:t>➔ Celery Background Task Queue: </a:t>
            </a:r>
            <a:r>
              <a:rPr sz="1000">
                <a:solidFill>
                  <a:srgbClr val="CBD5E1"/>
                </a:solidFill>
              </a:rPr>
              <a:t>Asynchronous image processing and report rendering.</a:t>
            </a:r>
          </a:p>
          <a:p>
            <a:pPr>
              <a:spcAft>
                <a:spcPts val="400"/>
              </a:spcAft>
            </a:pPr>
            <a:r>
              <a:rPr b="1" sz="1050">
                <a:solidFill>
                  <a:srgbClr val="38BDF8"/>
                </a:solidFill>
              </a:rPr>
              <a:t>➔ PDF Report Generator: </a:t>
            </a:r>
            <a:r>
              <a:rPr sz="1000">
                <a:solidFill>
                  <a:srgbClr val="CBD5E1"/>
                </a:solidFill>
              </a:rPr>
              <a:t>Downloadable reflection summaries stored in MongoDB.</a:t>
            </a:r>
          </a:p>
          <a:p>
            <a:pPr>
              <a:spcAft>
                <a:spcPts val="400"/>
              </a:spcAft>
            </a:pPr>
            <a:r>
              <a:rPr b="1" sz="1050">
                <a:solidFill>
                  <a:srgbClr val="38BDF8"/>
                </a:solidFill>
              </a:rPr>
              <a:t>➔ Live Reader WebSocket Chat: </a:t>
            </a:r>
            <a:r>
              <a:rPr sz="1000">
                <a:solidFill>
                  <a:srgbClr val="CBD5E1"/>
                </a:solidFill>
              </a:rPr>
              <a:t>Real-time consultation with certified readers.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