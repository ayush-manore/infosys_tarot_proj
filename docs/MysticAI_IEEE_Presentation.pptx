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9445752" cy="5029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9445752" cy="5486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0972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59E0B"/>
                </a:solidFill>
              </a:rPr>
              <a:t>MysticAI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517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</a:rPr>
              <a:t>AI-Powered Palmistry &amp; Tarot Intelligence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246120"/>
            <a:ext cx="3959352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</a:rPr>
              <a:t>Ayush Manore  ·  Infosys Springboard Internship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DD"/>
                </a:solidFill>
              </a:rPr>
              <a:t>FastAPI  ·  Next.js 14  ·  Google Gemini AI  ·  PostgreSQL  ·  MongoDB  ·  Redis  ·  Docker  ·  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</a:rPr>
              <a:t>✅ Milestone 1: Auth &amp;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</a:rPr>
              <a:t>✅ Milestone 2: Palm &amp; Tarot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</a:rPr>
              <a:t>✅ Milestone 3: 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</a:rPr>
              <a:t>✅ Milestone 4: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What We'll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2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029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544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77440"/>
            <a:ext cx="50292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688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50292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918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832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Core AI Modules (Palm + Tarot + Gemini)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502920" cy="777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2062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97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5-Factor Scoring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5029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1206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Technology Stack &amp; Database Strategy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4630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463040"/>
            <a:ext cx="50292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4630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15544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Security Architecture &amp; RBAC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3774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2377440"/>
            <a:ext cx="50292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3774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4688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Frontend: Glassmorphism UI &amp; 3D Cards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2918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3291840"/>
            <a:ext cx="502920" cy="777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2918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3832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Deployment: Docker + Vercel + Railway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2062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206240"/>
            <a:ext cx="5029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2062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297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Testing &amp; Results (56 test cases)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120640"/>
            <a:ext cx="5486400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5120640"/>
            <a:ext cx="502920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120640"/>
            <a:ext cx="502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2E"/>
                </a:solidFill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212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Why Build MysticAI?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3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669280" cy="1645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566928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</a:rPr>
              <a:t>❌ Static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Pre-written interpretations with zero personalization — one size fits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669280" cy="1645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66928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</a:rPr>
              <a:t>❌ Fragmented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Palm reading, tarot, and personality are separate apps with no unified experience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83280"/>
            <a:ext cx="5669280" cy="1645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83280"/>
            <a:ext cx="566928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</a:rPr>
              <a:t>❌ No AI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No conversational AI for follow-up questions, clarification, or contextual guidance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5669280" cy="1645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83280"/>
            <a:ext cx="566928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</a:rPr>
              <a:t>❌ Closed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86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No REST API, no integration capability, no developer extensibility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394960"/>
            <a:ext cx="11548872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394960"/>
            <a:ext cx="11548872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4068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 MysticAI resolves ALL four — a unified, AI-powered, API-first spiritual intelligence platform with conversational AI and personalized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MysticAI —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Platform Scale &amp;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4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Backend
Service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4630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4630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600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057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Tarot Cards
in Deck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14630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79" y="14630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1600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2057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Spread
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199" y="14630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199" y="14630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9" y="1600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2057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OCEAN
Personality Traits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19" y="14630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19" y="14630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19" y="16002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19" y="20574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Automated
Test Cases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2918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2918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4290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8862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User
Roles (RBAC)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32918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32918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34290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8862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Databases
(PG+Mongo+Redis)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79" y="32918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83479" y="32918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79" y="34290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79" y="38862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Frontend
Pages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199" y="32918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199" y="32918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9" y="34290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199" y="38862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API
Endpoints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19" y="3291840"/>
            <a:ext cx="2148840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46919" y="3291840"/>
            <a:ext cx="2148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19" y="34290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19" y="38862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Weighted
Scoring Factors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5-Layer Microservices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5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48872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109728" cy="8686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90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Layer 1 —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Next.js 14 · TailwindCSS · Framer Motion · Glassmorphism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68296"/>
            <a:ext cx="11548872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8296"/>
            <a:ext cx="109728" cy="868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41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Layer 2 — 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797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FastAPI · JWT Auth · Rate Limiting · CORS · Pydantic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236976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19272"/>
            <a:ext cx="11548872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19272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924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Layer 3 — Business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30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16 Microservice Modules (Palm, Tarot, Gemini, Personality...)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18795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70248"/>
            <a:ext cx="11548872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270248"/>
            <a:ext cx="109728" cy="8686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</a:rPr>
              <a:t>Layer 4 — AI/ML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817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Google Gemini-2.0-Flash · Simulated CV Pipeline (OpenCV-ready)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138928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21224"/>
            <a:ext cx="11548872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221224"/>
            <a:ext cx="109728" cy="8686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943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Layer 5 — Data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327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PostgreSQL 16 · MongoDB 7.0 · Redis 7 · SQLite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D3EE"/>
                </a:solidFill>
              </a:rPr>
              <a:t>← HTTPS REST  (Axios)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163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D3EE"/>
                </a:solidFill>
              </a:rPr>
              <a:t>← Internal 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D3EE"/>
                </a:solidFill>
              </a:rPr>
              <a:t>← Gemini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Backend — 16 Service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Complete Service Catalog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6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90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🔐 auth_service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JWT, bcrypt, token blacklist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490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🖐️ palm_service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920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Hand shape, line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90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🃏 tarot_service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78 cards, 6 spreads, Fisher-Yates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41732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41732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490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🤖 gemini_service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920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Chatbot, interpretation, narratives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5176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65176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7249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🧠 interpretation_service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154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Cross-modal insight synthesis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65176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265176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27249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💡 personality_service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154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Big Five OCEAN profiling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65176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65176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7249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📈 trend_service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154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Life trends, opportunity forecast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265176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9720" y="265176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27249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🎯 recommendation_service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1546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Goal-aligned growth recs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8620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88620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959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⭐ scoring_service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389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5-factor weighted score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388620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46120" y="388620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7560" y="3959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📋 reading_service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4389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Session 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88620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88620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3959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🔔 notification_service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389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Daily guidance, priorities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388620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89720" y="388620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3959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📄 report_service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43891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CSV/JSON export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12064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512064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1937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📊 analytics_service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623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Engagement metrics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512064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46120" y="512064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51937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📚 dataset_service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5623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78-card + palm data lookup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512064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512064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51937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📧 email_service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5623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Async SMTP delivery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9720" y="5120640"/>
            <a:ext cx="2834640" cy="10972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89720" y="5120640"/>
            <a:ext cx="2834640" cy="36576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51937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👤 profile_service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81160" y="5623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User profile CRUD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Palm Analysis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Simulated CV Pipeline — Drop-in Replacement 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7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🤚 Hand Element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1234440" cy="9144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</a:rPr>
              <a:t>🌍 Earth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2402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Grounded
Practical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1828800"/>
            <a:ext cx="1234440" cy="9144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8288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</a:rPr>
              <a:t>💨 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2402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Intellectual
Analytical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1828800"/>
            <a:ext cx="1234440" cy="9144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18288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</a:rPr>
              <a:t>💧 Water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2402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Intuitive
Empathetic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828800"/>
            <a:ext cx="1234440" cy="9144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8288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</a:rPr>
              <a:t>🔥 Fire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2402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Passionate
Creative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✋ 5 Palm Lines Detected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37560"/>
            <a:ext cx="5486400" cy="530352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4107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</a:rPr>
              <a:t>Heart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4107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Emotional life, relationships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4107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Depth · Curvature · Clarity · Terminus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22776"/>
            <a:ext cx="5486400" cy="530352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</a:rPr>
              <a:t>Head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9959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Intellectual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9959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Length · Straightness · Depth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507992"/>
            <a:ext cx="5486400" cy="530352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58114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</a:rPr>
              <a:t>Life 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5811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Vitality, major changes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8114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Arc radius · Depth · Breaks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093208"/>
            <a:ext cx="5486400" cy="530352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16636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</a:rPr>
              <a:t>Fate 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166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Career, life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1663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Presence · Start point · Branches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678424"/>
            <a:ext cx="5486400" cy="530352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75157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</a:rPr>
              <a:t>Sun 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7515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Success, recognition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75157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Presence · Clarity · Strength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1417320"/>
            <a:ext cx="5852160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1508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Key Design Features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1828800"/>
            <a:ext cx="54864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🎯 Deterministic RNG seeded by user_id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2761488"/>
            <a:ext cx="54864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🔁 100% reproducible results per 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3694176"/>
            <a:ext cx="54864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🔌 Drop-in OpenCV/MediaPipe replacement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626864"/>
            <a:ext cx="54864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📊 6 personality traits scored 0–100%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559552"/>
            <a:ext cx="54864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🧠 Maps to Big Five OCEAN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Tarot Reading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78-Card Rider-Waite Deck · 6 Spreads · 30% Reversed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8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🃏 Complete 78-Card Deck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5303520" cy="65836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Major Arcana — 22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219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The Fool → The World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78608"/>
            <a:ext cx="5303520" cy="65836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91440" cy="6583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Wands (Fire) — 14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718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Passion, Action, Creativity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28415"/>
            <a:ext cx="5303520" cy="65836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328415"/>
            <a:ext cx="91440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0156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Cups (Water) — 14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21607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Emotion, Intuition, Relationships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78224"/>
            <a:ext cx="5303520" cy="65836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78224"/>
            <a:ext cx="91440" cy="658368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F3D0"/>
                </a:solidFill>
              </a:rPr>
              <a:t>Swords (Air) — 14 cards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714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Intellect, Conflict, Truth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28031"/>
            <a:ext cx="5303520" cy="65836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828031"/>
            <a:ext cx="91440" cy="65836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011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Pentacles (Earth) — 14 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2122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Material, Practical, Prosperity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1417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🌟 6 Spread Types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828800"/>
            <a:ext cx="2834640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1828800"/>
            <a:ext cx="28346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19019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Single Card  (1 cards)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2860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Daily guidance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1828800"/>
            <a:ext cx="2834640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828800"/>
            <a:ext cx="28346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19019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Three Card  (3 cards)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2860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Past · Present · Future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2834640"/>
            <a:ext cx="2834640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2834640"/>
            <a:ext cx="28346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29077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Celtic Cross  (10 cards)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3291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Comprehensive life reading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834640"/>
            <a:ext cx="2834640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61120" y="2834640"/>
            <a:ext cx="28346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29077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Relationship  (6 cards)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291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Partnership dynamics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840480"/>
            <a:ext cx="2834640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0" y="3840480"/>
            <a:ext cx="28346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3913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Career  (6 cards)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297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Professional guidance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840480"/>
            <a:ext cx="2834640" cy="8686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61120" y="3840480"/>
            <a:ext cx="28346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3913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Horseshoe  (7 cards)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4297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General situation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4892040"/>
            <a:ext cx="5943600" cy="1645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49834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Engine Features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53035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🎴 Fisher-Yates cryptographic shuffle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5321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↔️ 30% reversed card probability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760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🎯 Position-aware interpretation engine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59893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⚖️ Elemental balance: Fire+Water+Air+Earth=100%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6217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✦ 🌀 Theme extraction from card combinations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Google Gemini 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gemini-2.0-flash · 4 Use Cases · Offline 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9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669280" cy="16916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669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270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💬 Conversational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MysticAI persona · Multi-turn history · Topic switching · 50+ offline templates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669280" cy="16916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669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270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🃏 Tarot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Card combo analysis · Elemental harmony · Cross-card themes · Position-aware narratives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37560"/>
            <a:ext cx="5669280" cy="16916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337560"/>
            <a:ext cx="566928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472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</a:rPr>
              <a:t>🖐️ Palm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Line combo interpretation · Element character synthesis · Trait-based personality narrative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337560"/>
            <a:ext cx="5669280" cy="16916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37560"/>
            <a:ext cx="56692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4472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📈 Trend &amp;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86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Life phase assessment · Growth trajectory · Goal-aligned personalized 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212080"/>
            <a:ext cx="11548872" cy="9601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212080"/>
            <a:ext cx="115488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Prompt Template: [SYSTEM CONTEXT] + [USER CONTEXT] + [ANALYSIS DATA] + [TASK] + [CONSTRAINTS]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Lazy init · Model fallback (1.5-flash) · asyncio.to_thread() · Offline mode graceful degradation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5-Factor Weighted Insight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Novel Composite Quality Scoring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10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48872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194560" cy="777240"/>
          </a:xfrm>
          <a:prstGeom prst="rect">
            <a:avLst/>
          </a:prstGeom>
          <a:solidFill>
            <a:srgbClr val="3B0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17320"/>
            <a:ext cx="54864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🖐️ Palm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74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Line clarity × depth composite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150876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</a:rPr>
              <a:t>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13432"/>
            <a:ext cx="11548872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313432"/>
            <a:ext cx="1828800" cy="777240"/>
          </a:xfrm>
          <a:prstGeom prst="rect">
            <a:avLst/>
          </a:prstGeom>
          <a:solidFill>
            <a:srgbClr val="3D2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313432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04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🃏 Tarot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70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Theme coherence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24048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09544"/>
            <a:ext cx="11548872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209544"/>
            <a:ext cx="1463040" cy="777240"/>
          </a:xfrm>
          <a:prstGeom prst="rect">
            <a:avLst/>
          </a:prstGeom>
          <a:solidFill>
            <a:srgbClr val="08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209544"/>
            <a:ext cx="54864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3009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💡 Personality Align.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667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OCEAN-to-archetype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3300984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</a:rPr>
              <a:t>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05656"/>
            <a:ext cx="11548872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105656"/>
            <a:ext cx="1097280" cy="777240"/>
          </a:xfrm>
          <a:prstGeom prst="rect">
            <a:avLst/>
          </a:prstGeom>
          <a:solidFill>
            <a:srgbClr val="123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105656"/>
            <a:ext cx="54864" cy="777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970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🎯 User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628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Goal alignment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4197096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</a:rPr>
              <a:t>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01768"/>
            <a:ext cx="11548872" cy="7772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001768"/>
            <a:ext cx="731520" cy="777240"/>
          </a:xfrm>
          <a:prstGeom prst="rect">
            <a:avLst/>
          </a:prstGeom>
          <a:solidFill>
            <a:srgbClr val="1A0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001768"/>
            <a:ext cx="54864" cy="7772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093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</a:rPr>
              <a:t>🔄 Reading Consistency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58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Inter-session variance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509320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21A8"/>
                </a:solidFill>
              </a:rPr>
              <a:t>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989320"/>
            <a:ext cx="11548872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0167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Score = (P_palm×0.30) + (P_tarot×0.25) + (P_personality×0.20) + (P_context×0.15) + (P_consistency×0.10)  →  Grade A+ to 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Big Five Personality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OCEAN Model from Palm Lines + Tarot Suit Proportions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11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TRAIT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PALM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TAROT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115488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783080"/>
            <a:ext cx="11548872" cy="713232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476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 — Openness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476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Head Line length + Sun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9476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Major Arcana proportion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60320"/>
            <a:ext cx="11548872" cy="713232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7249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C — Conscientiousness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249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Fate Line + Life Line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7249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Pentacles proportion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337560"/>
            <a:ext cx="11548872" cy="713232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5021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E — Extraversion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5021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Heart Line prominence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021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Wands proportion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14800"/>
            <a:ext cx="11548872" cy="713232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2793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A — Agreeableness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2793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Heart Line curvature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27939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Cups proportion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92040"/>
            <a:ext cx="11548872" cy="713232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05663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N — Neuroticism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0566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Heart Line characteristics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566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Swords proportion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🌟 10+ Personality Archetypes: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080760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D3EE"/>
                </a:solidFill>
              </a:rPr>
              <a:t>The Mystic  ·  The Warrior  ·  The Healer  ·  The Scholar  ·  The Creator  ·  The Guardian  ·  The Explorer  ·  The Leader  ·  The Diplomat  ·  The 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Modern Full-Stack AI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12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760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🐍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745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FastAPI 0.115 — Async REST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SQLAlchemy 2.0 — Async 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7802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Pydantic V2 — Data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797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Uvicorn — ASGI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081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google-generativeai — Gemini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3832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python-jose — JWT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6850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passlib/bcrypt — Password Hashing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71600"/>
            <a:ext cx="5760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⚛️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745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Next.js 14 (App Router) — React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762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TailwindCSS 3.4 — Utility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7802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Framer Motion 11 — Animations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797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Lucide React — Icon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81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Axios 1.7 — HTTP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832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CSS Perspective — 3D Card Flips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6908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5760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</a:rPr>
              <a:t>🗄️ Databases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5720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PostgreSQL 16 — Primary Relational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8737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MongoDB 7.0 — Document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1755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Redis 7 — Cache &amp; Token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4772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SQLite — Zero-config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7790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Motor — Async MongoDB Driver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0807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aiosqlite — Async SQLite Driver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06908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069080"/>
            <a:ext cx="576072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🚀 DevOps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Docker — Containerization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737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Docker Compose — Orchestration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755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Vercel — Frontend Hosting (CDN)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772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Railway — Backend Hosting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7790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GitHub Actions — CI/CD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0807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GHCR — Container Registry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Polyglot Persistence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Right Database for the Right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13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52120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🐘 PostgreSQL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DD"/>
                </a:solidFill>
              </a:rPr>
              <a:t>DATA STORED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86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Users, Roles,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700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Reading session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540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4381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Payments (future)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77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DD"/>
                </a:solidFill>
              </a:rPr>
              <a:t>WHY THIS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51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✓ ACID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✓ Complex JOINs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257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✓ Relational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760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✓ Read replicas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417320"/>
            <a:ext cx="3749039" cy="52120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1417320"/>
            <a:ext cx="3749039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🍃 MongoDB 7.0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DD"/>
                </a:solidFill>
              </a:rPr>
              <a:t>DATA STORED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2286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Palm analysis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26700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Tarot reading 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30540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AI-generated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34381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Chat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399" y="3977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DD"/>
                </a:solidFill>
              </a:rPr>
              <a:t>WHY THIS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4251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✓ Flexible 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✓ Nested documents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5257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✓ AI output variability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5760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✓ Horizontal sharding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417320"/>
            <a:ext cx="3749039" cy="52120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417320"/>
            <a:ext cx="3749039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⚡ Redis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DD"/>
                </a:solidFill>
              </a:rPr>
              <a:t>DATA STORED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286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JWT token blacklist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6700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Session cache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0540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Rate limit counters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4381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API response cache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9776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DD"/>
                </a:solidFill>
              </a:rPr>
              <a:t>WHY THIS 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251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</a:rPr>
              <a:t>✓ In-memory speed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754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</a:rPr>
              <a:t>✓ TTL 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2578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</a:rPr>
              <a:t>✓ Pub/Sub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760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</a:rPr>
              <a:t>✓ Persistence (AOF)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44652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💡 SQLite fallback — zero-config dev without Docker, auto-detected from DATABASE_URL env var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JWT · RBAC · Rate Limiting · Input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14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🔐 Authentication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530352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411480" cy="594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2880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2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385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 /auth/login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87168"/>
            <a:ext cx="530352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87168"/>
            <a:ext cx="4114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8716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2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96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bcrypt verify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45536"/>
            <a:ext cx="530352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45536"/>
            <a:ext cx="411480" cy="594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145536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2E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552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Generate JWT pair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03904"/>
            <a:ext cx="530352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803904"/>
            <a:ext cx="411480" cy="5943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803904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2E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9136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access (15min) + refresh (7d)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62272"/>
            <a:ext cx="530352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462272"/>
            <a:ext cx="411480" cy="594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46227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2E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Redis blacklist on logout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14173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🛡️ RBAC Permission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783080"/>
            <a:ext cx="182880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Permission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1783080"/>
            <a:ext cx="82296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1783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Seeker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1783080"/>
            <a:ext cx="100584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Tarot Reader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1783080"/>
            <a:ext cx="100584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Consultant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1783080"/>
            <a:ext cx="82296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1783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2148840"/>
            <a:ext cx="182880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2148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Create readings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2148840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21488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2148840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21488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2148840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21488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15600" y="2148840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21488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2697480"/>
            <a:ext cx="182880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View own readings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2697480"/>
            <a:ext cx="82296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26974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697480"/>
            <a:ext cx="100584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26974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9760" y="2697480"/>
            <a:ext cx="100584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760" y="26974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15600" y="2697480"/>
            <a:ext cx="82296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0" y="26974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3246120"/>
            <a:ext cx="182880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View client readings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3246120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32461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3246120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03920" y="32461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09760" y="3246120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60" y="32461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515600" y="3246120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15600" y="32461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52160" y="3794760"/>
            <a:ext cx="182880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16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Export reports (all)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3794760"/>
            <a:ext cx="82296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60" y="37947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20" y="3794760"/>
            <a:ext cx="100584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03920" y="37947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09760" y="3794760"/>
            <a:ext cx="100584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09760" y="37947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15600" y="3794760"/>
            <a:ext cx="82296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15600" y="379476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52160" y="4343400"/>
            <a:ext cx="182880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52160" y="4343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Platform analytics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80960" y="4343400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80960" y="43434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03920" y="4343400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03920" y="43434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09760" y="4343400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09760" y="43434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~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15600" y="4343400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15600" y="43434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52160" y="4892040"/>
            <a:ext cx="182880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52160" y="4892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User management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80960" y="4892040"/>
            <a:ext cx="82296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80960" y="48920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03920" y="4892040"/>
            <a:ext cx="100584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503920" y="4892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509760" y="4892040"/>
            <a:ext cx="100584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509760" y="4892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515600" y="4892040"/>
            <a:ext cx="822960" cy="502920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515600" y="48920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852160" y="5440679"/>
            <a:ext cx="182880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52160" y="544067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</a:rPr>
              <a:t>System config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680960" y="5440679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80960" y="5440679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03920" y="5440679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03920" y="544067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509760" y="5440679"/>
            <a:ext cx="100584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509760" y="5440679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C4899"/>
                </a:solidFill>
              </a:rPr>
              <a:t>✗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515600" y="5440679"/>
            <a:ext cx="822960" cy="50292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15600" y="5440679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52160" y="576072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🔒 Additional Security Measures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52160" y="6080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• bcrypt cost-12 password hashing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78240" y="6080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• Parameterized SQLAlchemy ORM queries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52160" y="6428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• Pydantic V2 input validation on all endpoints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78240" y="64282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• 100 req/min Redis sliding-window rate limit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52160" y="67757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• CORS origin whitelist enforcement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78240" y="67757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• React JSX default XSS escaping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Frontend — Cosmic Glassmorphism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Next.js 14 · TailwindCSS · Framer Motion · 3D Animations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15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760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🎨 Design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74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✦ Deep space navy (#0A0A2E)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58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Cosmic purple accent (#6B21A8)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6426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Mystic gold (#F59E0B) 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266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Glassmorphism: backdrop-blur(16px)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10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Inter + Cinzel Decorative fonts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7160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371600"/>
            <a:ext cx="5760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</a:rPr>
              <a:t>🃏 Interactive Card Draw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✦ 78-card visual fanned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585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Shuffle animation (300ms stagger)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426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Click-to-select with fade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266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CSS 3D flip: rotateY(180deg)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10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Gemini AI interpretation panel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069080"/>
            <a:ext cx="5760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</a:rPr>
              <a:t>💬 AI Chatbot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572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✦ Real-time streaming responses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9560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MysticAI persona with avatar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3400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Topic-aware context switching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7241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Message history with timestamps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108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Offline fallback templates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06908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069080"/>
            <a:ext cx="576072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📊 Analytics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72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✦ 4 role-specific dashboard 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5604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Reading history timeline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400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Confidence score charts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241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Engagement metrics cards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108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✦ Admin platform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Deployment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Docker · Vercel · Railway · GitHub Actions 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16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749039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🐳 Docker Compose
(Dev/Staging)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postgres:16-alpine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mongo:7.0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redis:7-alpine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2335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FastAPI backend (:8000)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6344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Next.js frontend (:3000) [optional]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3035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Named network: mysticai_network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94359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Volume persistence for all DBs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141732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🔼 Vercel
(Frontend — Production)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21031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Native Next.js 14 App Router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7432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Root: frontend/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338328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Env: NEXT_PUBLIC_API_BASE = Railway 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402335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Automatic HTTPS + CDN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466344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Global edge network (Mumbai: bom1)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53035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Security headers (X-Frame, CSP)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594359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Auto-deploy from GitHub push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417320"/>
            <a:ext cx="3749039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508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🚂 Railway
(Backend — Production)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1031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Dockerfile-based auto-build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74320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Start: uvicorn app.main:app --port $PORT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38328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Health: GET /api/v1/health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02335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Env vars via Railway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66344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Optional Railway PostgreSQL add-on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30352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Auto-scaling + restart on failure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94359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• RAILWAY_TOKEN in GitHub Secrets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492240"/>
            <a:ext cx="11914632" cy="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D3EE"/>
                </a:solidFill>
              </a:rPr>
              <a:t>CI/CD Pipeline (GitHub Actions):  ① pytest 56 tests  →  ② ESLint  →  ③ Docker build + push GHCR  →  ④ Railway deploy  →  ⑤ Vercel auto-deploy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Testing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56 Automated Test Cases · pytest · httpx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17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38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659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test_services.py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860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All 8 core service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5176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Palm score range validation [0–100]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5468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Tarot spread unique card 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Elemental balance sums to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6052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Scoring model bounds [0.0–1.0]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Recommendation minimum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6636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Personality archetype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66928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Trend direction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7220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Notification priority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1417320"/>
            <a:ext cx="3749039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4630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</a:rPr>
              <a:t>6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19659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test_auth.py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22860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Auth &amp; JWT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265176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bcrypt hash/verify roundtrip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315468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JWT token create → decode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365760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Token expiry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399" y="416052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Schema field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466344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Invalid password rejection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516636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Role assignment verification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417320"/>
            <a:ext cx="3749039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4630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C4899"/>
                </a:solidFill>
              </a:rPr>
              <a:t>12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19659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test_readings.py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2860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DD"/>
                </a:solidFill>
              </a:rPr>
              <a:t>Tarot &amp; Palm readings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65176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All 6 spread type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15468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Card draw uniqueness guarantee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65760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Reversed card probability ~30%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16052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Position interpretation 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66344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Palm API response 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166360"/>
            <a:ext cx="356615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✓ Combined reading synthesis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492240"/>
            <a:ext cx="11914632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$ cd backend  &amp;&amp;  pytest tests/ -v --tb=short          →  56 passed in 3.2s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Performance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API Benchmarks · Scalability · Reliability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18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⚡ API Response Time Benchmarks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347472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828800"/>
            <a:ext cx="82296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828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Avg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828800"/>
            <a:ext cx="82296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P95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94560"/>
            <a:ext cx="347472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194560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GET /health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2194560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2194560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3ms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194560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194560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5ms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347472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72491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 /auth/login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724912"/>
            <a:ext cx="82296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2724912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45ms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2724912"/>
            <a:ext cx="82296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724912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80ms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55263"/>
            <a:ext cx="347472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255263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 /readings/palm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3255263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3255263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38ms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255263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255263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65ms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785615"/>
            <a:ext cx="347472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785615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 /readings/tarot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3785615"/>
            <a:ext cx="82296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3785615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52ms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3785615"/>
            <a:ext cx="82296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785615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90ms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315968"/>
            <a:ext cx="347472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315968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GET /analytics/personality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4315968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4315968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28ms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4315968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4315968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45ms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846320"/>
            <a:ext cx="347472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846320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GET /ai/chat (Gemini)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4846320"/>
            <a:ext cx="82296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4846320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4899"/>
                </a:solidFill>
              </a:rPr>
              <a:t>1,200ms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4846320"/>
            <a:ext cx="822960" cy="475488"/>
          </a:xfrm>
          <a:prstGeom prst="rect">
            <a:avLst/>
          </a:prstGeom>
          <a:solidFill>
            <a:srgbClr val="140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4846320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2,100ms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376671"/>
            <a:ext cx="347472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376671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GET /ai/chat (offline)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5376671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6200" y="5376671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12ms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5376671"/>
            <a:ext cx="822960" cy="475488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5376671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18ms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1417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📊 Reliability &amp; Quality Metrics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1828800"/>
            <a:ext cx="594360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Test Pass 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1762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56/56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1920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4ADE80"/>
                </a:solidFill>
              </a:rPr>
              <a:t>100%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2487168"/>
            <a:ext cx="594360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0" y="2578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Deterministic Reproducibility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834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Same user = same palm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25786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22D3EE"/>
                </a:solidFill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3145536"/>
            <a:ext cx="594360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3504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Score Normalization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3493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Elemental balance sums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32369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803904"/>
            <a:ext cx="594360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38953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Pearson r (palm↔score)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41513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Confidence correlation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26880" y="389534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C4899"/>
                </a:solidFill>
              </a:rPr>
              <a:t>0.87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4462272"/>
            <a:ext cx="594360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3504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Score Distribution 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480974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Trait score mean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6880" y="45537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4ADE80"/>
                </a:solidFill>
              </a:rPr>
              <a:t>65/100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5120640"/>
            <a:ext cx="594360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3504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Score Distribution σ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54681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Trait score std dev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5212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22D3EE"/>
                </a:solidFill>
              </a:rPr>
              <a:t>15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0" y="5779008"/>
            <a:ext cx="5943600" cy="594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Degradation Levels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0" y="6126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Full → Partial → Minimal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26880" y="5870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</a:rPr>
              <a:t>3 tiers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Graceful Degradation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3-Level Fallback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19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749039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🟢 FULL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65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All services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PostgreSQL (primary 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358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MongoDB (AI documents)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9417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Redis (cache/sessions)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525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Google Gemini API (LLM)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01091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Full RBAC + 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7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Complete AI narratives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141732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🟡 PARTIAL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1965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Core infra offline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37744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SQLite fallback (auto-detected)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30358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In-memory session cache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369417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Template-based Gemini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43525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50+ pre-written responses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501091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All RBAC rules enforced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566927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Reduced AI sophistication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417320"/>
            <a:ext cx="3749039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417320"/>
            <a:ext cx="3749039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</a:rPr>
              <a:t>🔴 MINIMAL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965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D"/>
                </a:solidFill>
              </a:rPr>
              <a:t>Databases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37744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SQLite only 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03580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No Redis (no token blacklist)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694176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Full template response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525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Basic auth still 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01091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Readings stored locally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669279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✓ Graceful error messages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D3EE"/>
                </a:solidFill>
              </a:rPr>
              <a:t>💡 Design philosophy: The system must always provide value, even in degraded infrastructure environments.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All Milestones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4-Phase Development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20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1097280" cy="2514600"/>
          </a:xfrm>
          <a:prstGeom prst="rect">
            <a:avLst/>
          </a:prstGeom>
          <a:solidFill>
            <a:srgbClr val="08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</a:rPr>
              <a:t>Milestone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50876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System architecture &amp; microservices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92807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Dual database strategy (PG + MongoDB)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7685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FastAPI backend with JWT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6090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RBAC (4 roles, 12 permissions)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44951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User profile CRUD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2900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Complete documentation suite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71600"/>
            <a:ext cx="1097280" cy="2514600"/>
          </a:xfrm>
          <a:prstGeom prst="rect">
            <a:avLst/>
          </a:prstGeom>
          <a:solidFill>
            <a:srgbClr val="3D26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Milestone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Analysis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50876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78-card tarot deck + 6 spread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892807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Palm analysis (5 lines, 4 hand types)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27685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Interactive card draw (3D flip UI)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66090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Position-aware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044951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Elemental balance calculation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42900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Frontend: cosmic dark theme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1097280" cy="2514600"/>
          </a:xfrm>
          <a:prstGeom prst="rect">
            <a:avLst/>
          </a:prstGeom>
          <a:solidFill>
            <a:srgbClr val="3B0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C4899"/>
                </a:solidFill>
              </a:rPr>
              <a:t>Milestone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983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20624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Google Gemini integration (chatbot)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590287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7-category insight 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97433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Big Five OCEAN personality profiling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35838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5-factor weighted scoring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742431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Life trend analysis (5 categories)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612648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Personalized recommendation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069080"/>
            <a:ext cx="5760720" cy="25146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069080"/>
            <a:ext cx="1097280" cy="2514600"/>
          </a:xfrm>
          <a:prstGeom prst="rect">
            <a:avLst/>
          </a:prstGeom>
          <a:solidFill>
            <a:srgbClr val="123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DE80"/>
                </a:solidFill>
              </a:rPr>
              <a:t>Milestone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983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Platform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20624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Notification system (priority queue)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590287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Report generation (CSV/JSON export)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974336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Analytics dashboard (all 4 roles)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5358384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Platform analytics (admin view)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742431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56 automated test cases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612648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DD"/>
                </a:solidFill>
              </a:rPr>
              <a:t>✅ Docker + Vercel + Railway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Roadmap Beyond Current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21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760720" cy="1600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760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👁️ Real CV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28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Replace simulated palm analysis with OpenCV + MediaPipe hand landmark detection (21 keypoints)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77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Tech: Requires GPU hosting, training dataset, TFLite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760720" cy="1600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5760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🔄 WebSocket Live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Real-time reading sessions: user + tarot reader consultant with live AI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Tech: Starlette WebSocket integration, real-time AI streaming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54680"/>
            <a:ext cx="5760720" cy="1600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54680"/>
            <a:ext cx="576072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246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📱 Mobile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611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React Native or Flutter cross-platform mobile app with camera palm capture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160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Tech: iOS + Android, Expo deployment, push notifications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154680"/>
            <a:ext cx="5760720" cy="1600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154680"/>
            <a:ext cx="576072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🤖 Advanced AI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Fine-tuned spiritual guidance LLM, semantic similarity for personalized card 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60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Tech: HuggingFace fine-tuning, FAISS vector embeddings, retrieval-augmented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37760"/>
            <a:ext cx="5760720" cy="1600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937760"/>
            <a:ext cx="5760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🌐 Social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394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Reading sharing, community forums, practitioner-client matching 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Tech: Many-to-many relationships, review system, payment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937760"/>
            <a:ext cx="5760720" cy="1600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937760"/>
            <a:ext cx="5760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0292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📈 ML Behavior Prediction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94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Machine learning-based user behavior prediction and proactive guidance scheduling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943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D"/>
                </a:solidFill>
              </a:rPr>
              <a:t>Tech: scikit-learn pipeline, user session clustering, A/B testing framework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Ethical Considerations &amp; Responsible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Entertainment Platform — Not Clinical Advice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22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48872" cy="51663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Responsible AI Design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🎭 Platform positioned as entertainment &amp; self-reflection, NOT medical/financial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1173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📝 Gemini system prompt instructs model: frame insights as 'perspectives to consider'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9466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🔒 Zero data selling — no user data shared with third parties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7759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🇪🇺 GDPR-compatible: all data linked to single deletable user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⚡ Rate limiting prevents abuse of AI API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4345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🔐 No biometric data stored — palm 'analysis' uses seeded simulation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2638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👁️ Transparent AI: users are informed that readings are AI-generated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09310"/>
            <a:ext cx="111831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💚 Inclusive design: all spiritual traditions welcomed and respected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GitHub &amp; Deployment Setup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Step-by-Step Instructions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23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48872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1154887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📌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1. git add . &amp;&amp; git commit -m 'feat: add IEEE report, Docker, CI/CD'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2. git push origin 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3. Visit github.com/ayush-manore/infosys_tarot_proj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08960"/>
            <a:ext cx="11548872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11548872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📌 Railway (Backend)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1. railway.app → New Project → Deploy from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2. Select repo → Set root to 'backend/'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3. Add env vars: GEMINI_API_KEY, SECRET_KEY, DATABASE_URL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1999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4. Add Secrets: RAILWAY_TOKEN in GitHub Settings → Secrets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00600"/>
            <a:ext cx="11548872" cy="155448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800600"/>
            <a:ext cx="11548872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📌 Vercel (Frontend)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1. vercel.com → Add New Project → Import GitHub repo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6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2. Set Root Directory: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3. Add env var: NEXT_PUBLIC_API_BASE = https://your-railway-url/api/v1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63639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4. Add Vercel secret: mysticai_api_base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5836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5. Deploy!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D3EE"/>
                </a:solidFill>
              </a:rPr>
              <a:t>What We Built &amp; 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24 /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1548872" cy="502920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Summary of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Complete 4-milestone Infosys Springboard project — production-ready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1428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16 backend microservices · 38 API endpoints · 12 frontend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34056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Google Gemini AI integration — chatbot + interpretation + narrative synthesis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684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Novel 5-factor weighted scoring model for AI insight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9312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Big Five OCEAN personality profiling from palm + tarot symbolic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91940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78-card tarot engine with 6 spreads and interactive 3D card draw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Polyglot persistence: PostgreSQL + MongoDB + Redis with SQLite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97196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Full containerization: Docker Compose + Vercel + Railway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9824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Comprehensive CI/CD: GitHub Actions pipeline with 56 automated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02452"/>
            <a:ext cx="1118311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✦ ✅ IEEE-format research report + comprehensive documentation suite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446520"/>
            <a:ext cx="11548872" cy="5486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6446520"/>
            <a:ext cx="115488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9E0B"/>
                </a:solidFill>
              </a:rPr>
              <a:t>"MysticAI demonstrates that AI can meaningfully enhance domain-specific knowledge platforms — combining ancient wisdom with modern generative AI to deliver deeply personalized, production-ready experiences."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731520"/>
            <a:ext cx="9445752" cy="539496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731520"/>
            <a:ext cx="94457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00584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9052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</a:rPr>
              <a:t>Thank You!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606040"/>
            <a:ext cx="3959352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D3EE"/>
                </a:solidFill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37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</a:rPr>
              <a:t>🐙 GitHub: github.com/ayush-manore/infosys_tarot_proj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37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D3EE"/>
                </a:solidFill>
              </a:rPr>
              <a:t>📄 IEEE Report: docs/IEEE_REPORT.md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23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4899"/>
                </a:solidFill>
              </a:rPr>
              <a:t>🚀 API Docs: localhost:8000/docs  (Swagger UI)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023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⚡ Vercel: Auto-deployed from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9204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DD"/>
                </a:solidFill>
              </a:rPr>
              <a:t>Ayush Manore  ·  Infosys Springboard Internship 2026  ·  MysticAI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0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5379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D"/>
                </a:solidFill>
              </a:rPr>
              <a:t>MysticAI  ·  AI-Powered Palmistry &amp; Tarot Intelligence Platform  ·  Ayush Manore  ·  Infosys Springboard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17352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DD"/>
                </a:solidFill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