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4389120" cy="347472"/>
          </a:xfrm>
          <a:prstGeom prst="roundRect">
            <a:avLst/>
          </a:prstGeom>
          <a:solidFill>
            <a:srgbClr val="131D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✦ INFOSYS SPRINGBOARD INTERNSHIP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MysticAI Platform</a:t>
            </a:r>
          </a:p>
          <a:p>
            <a:pPr>
              <a:defRPr sz="2000" b="1">
                <a:solidFill>
                  <a:srgbClr val="F59E0B"/>
                </a:solidFill>
              </a:defRPr>
            </a:pPr>
            <a:r>
              <a:t>AI-Powered Palmistry &amp; Tarot Multimodal Intelligence System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Synthesizing Computer Vision, 78-Card Symbolic Mechanics &amp; 5-Factor Confidence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2560320" cy="1280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219456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100% MILESTONES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All 4 Phases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566160"/>
            <a:ext cx="2560320" cy="1280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3703320"/>
            <a:ext cx="219456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63 UNIT TESTS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100% Pass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566160"/>
            <a:ext cx="2560320" cy="1280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3703320"/>
            <a:ext cx="219456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30+ REST APIS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FastAPI Asynchronous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566160"/>
            <a:ext cx="2560320" cy="1280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3703320"/>
            <a:ext cx="219456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4 ROLE PORTALS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Seeker / Reader / Consultant /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1C2944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21808"/>
            <a:ext cx="1014984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Author: Ayush Manore   |   Project Track: Full-Stack AI &amp; Intelligent Systems   |   Mentor: Infosys Technical Review Board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Stack: Next.js 14 (React) · FastAPI (Python) · PostgreSQL / SQLite · MongoDB Motor · Redis ·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01. CONTEXT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Strategic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02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6634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CURRENT INDUSTRY CHALLENGES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❌ Static &amp; Random Blurbs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Online horoscope &amp; spiritual tools rely on static string concatenations with no algorithmic depth.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❌ Zero Biometric Integration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Palmistry apps fail to extract verifiable morphological metrics (curvature, length, mounts).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❌ Isolated Modalities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Palm, Tarot, and Astrology exist in silos, with zero correlation or cross-validation.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❌ No Objective Confidence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Users are given arbitrary claims with no transparency, quality checks, or confidence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691640"/>
            <a:ext cx="46634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MYSTICAI SOLUTION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✔ Multimodal Intelligence Engine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Fuses Computer Vision palm morphology with 78-card symbolic tarot dynamics.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✔ Deterministic Biometric Tracing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Measures 5 principal palm lines and 4 elemental hand shapes accurately.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✔ Big Five (OCEAN) Psychology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Maps spiritual symbols into validated psychological trait dimensions and life domains.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✔ 5-Factor Weighted Confidence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Calculates a mathematically sound certainty score (0-100%) for every insight.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02. ENGINEERING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Full-Stack System Architecture &amp;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03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56432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2999232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PRESENTATION LAYER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Next.js 14 App Router</a:t>
            </a:r>
          </a:p>
          <a:p>
            <a:pPr>
              <a:defRPr sz="800">
                <a:solidFill>
                  <a:srgbClr val="283854"/>
                </a:solidFill>
              </a:defRPr>
            </a:pPr>
            <a:r>
              <a:t>─────────────────────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React 18 Server &amp; Client Components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Tailwind CSS + Glassmorphism aesthetic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Framer Motion 3D card flips &amp; HUD overlays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Responsive across Mobile, Tablet &amp; Desktop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One-Click CSV / JSON Data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56432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91640"/>
            <a:ext cx="2999232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INTELLIGENCE API LAYER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FastAPI (Async Python 3.11)</a:t>
            </a:r>
          </a:p>
          <a:p>
            <a:pPr>
              <a:defRPr sz="800">
                <a:solidFill>
                  <a:srgbClr val="283854"/>
                </a:solidFill>
              </a:defRPr>
            </a:pPr>
            <a:r>
              <a:t>─────────────────────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30+ Modular REST Endpoints with Swagger Docs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11 Decoupled Domain Microservices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Pydantic v2 Strict Request/Response Schemas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JWT Bearer Auth &amp; Role-Based Access Control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Sub-100ms High-Throughput Response Times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463040"/>
            <a:ext cx="3456432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691640"/>
            <a:ext cx="2999232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ENTERPRISE DATA LAYER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Polyglot Persistence</a:t>
            </a:r>
          </a:p>
          <a:p>
            <a:pPr>
              <a:defRPr sz="800">
                <a:solidFill>
                  <a:srgbClr val="283854"/>
                </a:solidFill>
              </a:defRPr>
            </a:pPr>
            <a:r>
              <a:t>─────────────────────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PostgreSQL 16: ACID User &amp; Transactional State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Auto SQLite Fallback: Zero-friction local dev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MongoDB Motor: Unstructured reading documents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Redis 7: Session caching &amp; token blacklist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Docker Compose multi-container orchestrator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03. MULTIMODAL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Biometric Palm Feature Extraction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93776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 PRINCIPAL PALM LINES ANALYZED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▪ Heart Line: </a:t>
            </a:r>
            <a:r>
              <a:rPr b="0">
                <a:solidFill>
                  <a:srgbClr val="CBD5E1"/>
                </a:solidFill>
              </a:rPr>
              <a:t>Emotional capacity, empathy quotient, relationship depth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▪ Head Line: </a:t>
            </a:r>
            <a:r>
              <a:rPr b="0">
                <a:solidFill>
                  <a:srgbClr val="CBD5E1"/>
                </a:solidFill>
              </a:rPr>
              <a:t>Analytical cognition, focus clarity, decision-making style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▪ Life Line: </a:t>
            </a:r>
            <a:r>
              <a:rPr b="0">
                <a:solidFill>
                  <a:srgbClr val="CBD5E1"/>
                </a:solidFill>
              </a:rPr>
              <a:t>Vitality, physical resilience, adaptability to stress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▪ Fate Line: </a:t>
            </a:r>
            <a:r>
              <a:rPr b="0">
                <a:solidFill>
                  <a:srgbClr val="CBD5E1"/>
                </a:solidFill>
              </a:rPr>
              <a:t>Career trajectory, discipline, goal-oriented pathing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▪ Sun Line: </a:t>
            </a:r>
            <a:r>
              <a:rPr b="0">
                <a:solidFill>
                  <a:srgbClr val="CBD5E1"/>
                </a:solidFill>
              </a:rPr>
              <a:t>Creativity, public recognition, artistic fulfillment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4967935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91640"/>
            <a:ext cx="4419295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MORPHOLOGY &amp; DETECTION PIPELINE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⚡ Input Modes: </a:t>
            </a:r>
            <a:r>
              <a:rPr b="0">
                <a:solidFill>
                  <a:srgbClr val="CBD5E1"/>
                </a:solidFill>
              </a:rPr>
              <a:t>Dual support: Real-time Camera HUD Scanner + High-res File Upload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⚡ Hand Shape Element: </a:t>
            </a:r>
            <a:r>
              <a:rPr b="0">
                <a:solidFill>
                  <a:srgbClr val="CBD5E1"/>
                </a:solidFill>
              </a:rPr>
              <a:t>Calculates Palm-to-Finger ratio to classify Earth, Air, Fire, or Water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⚡ Contour &amp; Landmarks: </a:t>
            </a:r>
            <a:r>
              <a:rPr b="0">
                <a:solidFill>
                  <a:srgbClr val="CBD5E1"/>
                </a:solidFill>
              </a:rPr>
              <a:t>Identifies 21 anatomical landmarks across thumb, index, palm base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⚡ Curvature Tracing: </a:t>
            </a:r>
            <a:r>
              <a:rPr b="0">
                <a:solidFill>
                  <a:srgbClr val="CBD5E1"/>
                </a:solidFill>
              </a:rPr>
              <a:t>Measures length, depth, curvature &amp; interruptions along line trajectories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⚡ Mount Analysis: </a:t>
            </a:r>
            <a:r>
              <a:rPr b="0">
                <a:solidFill>
                  <a:srgbClr val="CBD5E1"/>
                </a:solidFill>
              </a:rPr>
              <a:t>Evaluates Venus, Jupiter, Apollo &amp; Lunar fleshy mounts for energy balance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04. SYMBOLIC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Tarot Spread Engine &amp; Symbolic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05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56432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2999232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78-CARD CANONICAL DECK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Archetype Engine</a:t>
            </a:r>
          </a:p>
          <a:p>
            <a:pPr>
              <a:defRPr sz="800">
                <a:solidFill>
                  <a:srgbClr val="283854"/>
                </a:solidFill>
              </a:defRPr>
            </a:pPr>
            <a:r>
              <a:t>─────────────────────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22 Major Arcana: Universal life lessons, soul evolutions &amp; core archetypes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56 Minor Arcana: Practical day-to-day challenges &amp; opportunities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4 Suits: Wands (Fire), Cups (Water), Swords (Air), Pentacles (Earth)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Dual Polarity: Upright (direct flow) vs Inverted/Reversed (shadow/blocked)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56432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91640"/>
            <a:ext cx="2999232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6 SPREAD ARCHITECTURES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Spatial Context</a:t>
            </a:r>
          </a:p>
          <a:p>
            <a:pPr>
              <a:defRPr sz="800">
                <a:solidFill>
                  <a:srgbClr val="283854"/>
                </a:solidFill>
              </a:defRPr>
            </a:pPr>
            <a:r>
              <a:t>─────────────────────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Single Card Draw: Instant daily spiritual beacon &amp; morning focus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Three-Card Spread: Linear Past, Present, and Future continuum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Five-Card Cross: Core conflict, subconscious desires, and obstacle resolution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Celtic Cross (10 Cards): Full psychological audit &amp; longitudinal outcome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Custom Spreads: Configurable layouts for professional reader consultations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463040"/>
            <a:ext cx="3456432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691640"/>
            <a:ext cx="2999232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ELEMENTAL BALANCE MODEL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Harmonic Scoring</a:t>
            </a:r>
          </a:p>
          <a:p>
            <a:pPr>
              <a:defRPr sz="800">
                <a:solidFill>
                  <a:srgbClr val="283854"/>
                </a:solidFill>
              </a:defRPr>
            </a:pPr>
            <a:r>
              <a:t>─────────────────────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Computes Fire/Water/Air/Earth balance across all revealed cards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Detects elemental deficits (e.g., low Earth indicates lack of grounding)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Dynamic card synergy &amp; tension modeling based on adjacent positions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✦ Feeds mathematical distribution directly into the AI Synthesis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A855F7"/>
                </a:solidFill>
              </a:defRPr>
            </a:pPr>
            <a:r>
              <a:t>05. INTELLIGENCE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AI Synthesis &amp; 5-Factor Confidence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06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6634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CROSS-MODAL SYNTHESIS &amp; PSYCHOLOGY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Correlates biological palm traits with symbolic tarot draws to formulate: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✦ 7 Holistic Life Domains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Synthesizes career, emotional vitality, spiritual purpose, love, wealth, mental resilience &amp; creativity.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✦ Big Five (OCEAN) Profiling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Generates quantitative ratings for Openness, Conscientiousness, Extraversion, Agreeableness, and Neuroticism.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✦ Actionable Life Recommendations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Produces concrete, goal-oriented daily guidance instead of vague generic prophecies.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691640"/>
            <a:ext cx="46634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5-FACTOR WEIGHTED CONFIDENCE ALGORITHM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⚖ Palm Line Clarity (25%)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Measures sharpness, continuity, and depth of traced palm lines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⚖ Tarot Spread Harmony (25%)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Quantifies card polarity coherence and positional consistency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⚖ Elemental Alignment (20%)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Evaluates concord between hand shape element and tarot suit distribution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⚖ Longitudinal Continuity (15%)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Compares session readings against historical baseline user profiles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⚖ Capture &amp; Scan Quality (15%)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Evaluates lighting, contrast, and resolution of user palm capture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06. MULTI-PERSONA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Role-Based Access Portals (RBAC)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07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89204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SEEKER PORTAL  ·  Everyday Spiritual Explorer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Personal reading history timeline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Morning daily tarot card draws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Big Five OCEAN personality radar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Goal alignment &amp; life path progress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Exportable spiritual reports (CSV/JSON)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63040"/>
            <a:ext cx="5257800" cy="22402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00200"/>
            <a:ext cx="489204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TAROT READER PORTAL  ·  Professional Practitioner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Active client consultation queue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Custom spread layout designer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Annotated client notes &amp; insights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Card inversion override toggles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Consultation history archives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89204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SPIRITUAL CONSULTANT  ·  Holistic Advisor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Multi-session client audit profiles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Longitudinal personality trend tracker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Cross-modal palm + tarot synthesis view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Priority alert tagging for client guidance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Deep-dive psychological metric 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886200"/>
            <a:ext cx="5257800" cy="22402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023360"/>
            <a:ext cx="489204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SUPER ADMIN CONSOLE  ·  Platform Administrator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Live server telemetry &amp; endpoint metrics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Active user role management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Dataset catalog browsing &amp; statistics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Security token audit logs &amp; revocation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✦ Health checks across Postgres, Mongo, Redis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07.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User Experience &amp; UI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08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32918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ebsite_hero_la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5120640" cy="285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892040"/>
            <a:ext cx="52120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MODERN COSMIC GLASSMORPHISM UI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Dark-mode aesthetic with interactive camera palm HUD, 3D card deck shuffle &amp; flip animations, and real-time guidance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463040"/>
            <a:ext cx="5212080" cy="32918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ebsite_dashboard_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15" y="1508760"/>
            <a:ext cx="5120640" cy="2858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48095" y="4892040"/>
            <a:ext cx="521208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HOLISTIC ANALYTICS &amp; DATA PORTABILITY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Seeker profile showing Big Five radar charts, longitudinal spiritual timelines, and instant one-click export to CSV &amp; JSON formats.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08. VERIFICATION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Engineering Rigor, Testing &amp;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09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468880" cy="12344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219456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63 / 63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Automated Tests Passing (100%)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63040"/>
            <a:ext cx="2468880" cy="12344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219456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&lt; 95 ms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Average REST API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2468880" cy="12344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219456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30+ APIS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Swagger / OpenAPI Standard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834640"/>
            <a:ext cx="2468880" cy="12344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971800"/>
            <a:ext cx="219456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0 DOWNTIME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Automatic SQLite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5074920" cy="18288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70916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TESTING &amp; CODE STABILITY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✔ Auth security: JWT token generation, refresh &amp; blacklist tests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✔ Deterministic CV: Line curvature boundary &amp; landmark assertions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✔ Tarot permutations: Card inversion polarities &amp; spread integrity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✔ Cross-modal integration: Synthesis output schema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463040"/>
            <a:ext cx="5379415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8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ebsite_swagger_do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08760"/>
            <a:ext cx="5287975" cy="2951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09. SUMMARY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Conclusion, Impact &amp; 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65760"/>
            <a:ext cx="1188720" cy="32004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8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6634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MILESTONES DELIVERED (100%)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✔ Milestone 1: Foundations &amp; Architecture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FastAPI backend, Next.js frontend, hybrid database models, full auth scaffolding.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✔ Milestone 2: Palmistry &amp; Tarot Engines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5 palm line extraction algorithms, 78-card tarot deck, 6 spread layouts.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✔ Milestone 3: AI Synthesis &amp; RBAC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5-factor confidence scoring model, 4 role-based user portals, report generation.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✔ Milestone 4: Testing, Export &amp; Polish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63 passing automated tests, CSV/JSON export, performance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691640"/>
            <a:ext cx="466344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FUTURE ROADMAP &amp; LIVE DEMO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🚀 On-Device Edge MediaPipe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Client-side WebAssembly computer vision for offline palm landmark inference.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🚀 Cross-Platform Mobile App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React Native iOS &amp; Android apps with haptic feedback tarot shuffling.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🚀 Multilingual Neural Voice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Real-time AI voice-guided consultations in 10+ global languages.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🚀 WebXR 3D Sanctum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Immersive virtual reality spiritual consultation environment.</a:t>
            </a:r>
          </a:p>
          <a:p>
            <a:pPr>
              <a:defRPr sz="800">
                <a:solidFill>
                  <a:srgbClr val="283854"/>
                </a:solidFill>
              </a:defRPr>
            </a:pPr>
            <a:r>
              <a:t>──────────────────────────────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Thank you! Ready for Live Demo &amp;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