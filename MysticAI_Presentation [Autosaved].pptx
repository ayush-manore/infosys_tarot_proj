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INFOSYS SPRINGBOARD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MysticAI: Next-Gen Palmistry &amp; Tarot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01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Multimodal AI Spiritual Intelligence Platform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Bridging ancient esoteric divination (Tarot &amp; Palmistry) with modern Computer Vision, Google Gemini 2.0 Flash LLM, and full-stack reactive microservices.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303520" cy="80467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90672"/>
            <a:ext cx="498348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🃏 3D Interactive Card Draw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Physics-driven visual shuffle, fanning &amp; real-time 3D flip card picks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13631"/>
            <a:ext cx="5303520" cy="80467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986783"/>
            <a:ext cx="498348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A855F7"/>
                </a:solidFill>
              </a:defRPr>
            </a:pPr>
            <a:r>
              <a:t>🤖 Gemini Conversational AI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Context-aware spiritual chatbot with domain-tuned guidance prompts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9744"/>
            <a:ext cx="5303520" cy="80467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882896"/>
            <a:ext cx="498348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✋ CV Palm Line Intelligence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Automated line detection, feature extraction &amp; Big Five personality mapping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05856"/>
            <a:ext cx="5303520" cy="80467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779008"/>
            <a:ext cx="498348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43F5E"/>
                </a:solidFill>
              </a:defRPr>
            </a:pPr>
            <a:r>
              <a:t>🛡️ Enterprise Polyglot Core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FastAPI async engine + Next.js 14 + PostgreSQL, MongoDB &amp; Redis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298448"/>
            <a:ext cx="5266944" cy="44348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353312"/>
            <a:ext cx="3584447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🖥️  LIVE PLATFORM HERO &amp; INTERACTION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1353312"/>
            <a:ext cx="146304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</a:defRPr>
            </a:pPr>
            <a:r>
              <a:t>● PRODUCTION READY</a:t>
            </a:r>
          </a:p>
        </p:txBody>
      </p:sp>
      <p:pic>
        <p:nvPicPr>
          <p:cNvPr id="21" name="Picture 20" descr="website_hero_l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3886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309360" y="5687568"/>
            <a:ext cx="2450592" cy="868680"/>
          </a:xfrm>
          <a:prstGeom prst="roundRect">
            <a:avLst/>
          </a:prstGeom>
          <a:solidFill>
            <a:srgbClr val="1C29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742432"/>
            <a:ext cx="22677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78 Cards · 6 Spreads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Full Major &amp; Minor Arcana graph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9408" y="5687568"/>
            <a:ext cx="2450592" cy="868680"/>
          </a:xfrm>
          <a:prstGeom prst="roundRect">
            <a:avLst/>
          </a:prstGeom>
          <a:solidFill>
            <a:srgbClr val="1C294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5742432"/>
            <a:ext cx="22677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4-Tier RBAC &amp; JWT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Enterprise security &amp; audit logging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A855F7"/>
                </a:solidFill>
              </a:defRPr>
            </a:pPr>
            <a:r>
              <a:t>SYSTEM DESIGN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System Architecture: Dual-Database Polyglot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02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303520" cy="1554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63040"/>
            <a:ext cx="4983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⚡ Frontend Client Layer (Next.js 14)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React 18 + Next.js App Router for dynamic routing &amp; SEO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TailwindCSS + Framer Motion for 3D card flips &amp; glassmorphism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Real-time state hydration with JWT bearer interceptors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303520" cy="1554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4983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🚀 Async Application Layer (FastAPI)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High-throughput Python 3.11 asynchronous REST microservices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Strict Pydantic v2 contract validation for all payloads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Modular routers: Auth, Readings, AI Chat, Datasets,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303520" cy="1554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846320"/>
            <a:ext cx="4983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🗄️ Polyglot Dual-Database Layer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PostgreSQL (SQLAlchemy): ACID user auth, roles &amp; transactions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MongoDB (Motor): Flexible NoSQL reading logs, card spread graphs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Redis: Token blacklisting, session caching &amp; rate limiting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298448"/>
            <a:ext cx="5266944" cy="3977639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53312"/>
            <a:ext cx="3584447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🖥️  INTERACTIVE FASTAPI SWAGGER / REDOC API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1353312"/>
            <a:ext cx="146304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</a:defRPr>
            </a:pPr>
            <a:r>
              <a:t>● FULLY DOCUMENTED</a:t>
            </a:r>
          </a:p>
        </p:txBody>
      </p:sp>
      <p:pic>
        <p:nvPicPr>
          <p:cNvPr id="17" name="Picture 16" descr="website_swagger_do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3429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09360" y="5212080"/>
            <a:ext cx="5120640" cy="1325880"/>
          </a:xfrm>
          <a:prstGeom prst="roundRect">
            <a:avLst/>
          </a:prstGeom>
          <a:solidFill>
            <a:srgbClr val="1C2944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30352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🐳 Dockerized Microservices &amp; Unified Orchestration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Single-command initialization via `docker-compose up -d`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Isolated container networks for PostgreSQL (5432), MongoDB (27017), Redis (6379) &amp; FastAPI (8000)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MULTIMODAL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Core AI Engines: 3D Interactive Tarot &amp; Palm 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03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5358384" cy="41605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3648456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🖥️  DIGITIZED KNOWLEDGE BASE &amp; SPREAD EXPLORER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53312"/>
            <a:ext cx="146304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</a:defRPr>
            </a:pPr>
            <a:r>
              <a:t>● 78 CARDS + PALM DATA</a:t>
            </a:r>
          </a:p>
        </p:txBody>
      </p:sp>
      <p:pic>
        <p:nvPicPr>
          <p:cNvPr id="11" name="Picture 10" descr="website_datasets_explor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6118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5394960"/>
            <a:ext cx="5212080" cy="1143000"/>
          </a:xfrm>
          <a:prstGeom prst="roundRect">
            <a:avLst/>
          </a:prstGeom>
          <a:solidFill>
            <a:srgbClr val="1C294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468112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🔮 6 Standard Spread Frameworks Supported: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Single Card · Past-Present-Future · Celtic Cross (10 Cards) · Career Path · Love &amp; Relationship · Horseshoe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🃏 3D Physics Interactive Tarot Engine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Interactive Card Draw: Physics-based visual deck shuffle, card fanning, and manual one-by-one pick flow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3D CSS &amp; Framer Flip: Recreates authentic physical tactile experience with flip animation &amp; upright/reversed state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Elemental &amp; Astrological Mapping: Cards mapped to Fire, Water, Air, Earth, Zodiac signs, and planetary rulers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Deterministic + AI Synthesis: Position-specific meanings fused into dynamic multi-card narratives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12080" cy="26060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✋ Computer Vision Palm Line Detection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5 Major/Minor Line Analysis: Heart (Emotions), Head (Intellect), Life (Vitality), Fate (Destiny), Sun (Creativity)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Morphological Feature Extraction: Quantifies length, curvature, depth, fork branches, and line breaks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Personality Archetype Engine: Mapped into Big Five personality metrics (Openness, Conscientiousness, Extroversion, etc.)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Dual Input Mode: Supports real-time camera image upload or manual interactive parameter calibration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43F5E"/>
                </a:solidFill>
              </a:defRPr>
            </a:pPr>
            <a:r>
              <a:t>COGNITIVE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Multimodal AI &amp; Gemini 2.0 Conversational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04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423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4846320" cy="2240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🤖 Google Gemini 2.0 Flash Integration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Low-latency streaming inferences via `@google/genai` API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System instruction engineering enforcing empathetic, mystical yet grounded tone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Structured JSON response enforcement for cards, traits &amp;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423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2240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🧠 Context-Aware Memory &amp; Persona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Multi-turn conversation history retained with session sliding window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Dynamic user profile injection (Zodiac sign, life path, previous readings)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Dual-mode execution: Live Gemini LLM or Offline Rule-based Template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423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4846320" cy="2240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🔮 Deep Narrative Synthesis Engine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Cross-modal fusion: Synthesizes Tarot card archetypes + Palmistry lines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Multi-dimensional scoring across 4 life pillars: Career, Love, Health &amp; Spirit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Dynamic confidence scoring based on card harmony &amp; line strength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423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41648"/>
            <a:ext cx="4846320" cy="2240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💡 Personalized Recommendation Engine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Actionable daily affirmations &amp; mindfulness spiritual practices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Crystal &amp; gemstone pairings with elemental balancing advice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Automated PDF &amp; Word document generation for downloadable personal dossiers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SECURITY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Enterprise Security, 4-Tier RBAC &amp; 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05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5358384" cy="41605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3648456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🖥️  USER ANALYTICS &amp; PROFILE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53312"/>
            <a:ext cx="146304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</a:defRPr>
            </a:pPr>
            <a:r>
              <a:t>● 4 ROLES ACTIVE</a:t>
            </a:r>
          </a:p>
        </p:txBody>
      </p:sp>
      <p:pic>
        <p:nvPicPr>
          <p:cNvPr id="11" name="Picture 10" descr="website_dashboard_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6118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5394960"/>
            <a:ext cx="5212080" cy="1143000"/>
          </a:xfrm>
          <a:prstGeom prst="roundRect">
            <a:avLst/>
          </a:prstGeom>
          <a:solidFill>
            <a:srgbClr val="1C29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468112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🔐 Enterprise Security &amp; Token Lifecycle: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Bcrypt password hashing · HMAC-SHA256 JWT tokens · Redis token blacklisting on logout · CORS &amp; Rate limiters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2468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👥 4-Tier Role-Based Access Control (RBAC)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🔮 Seeker (End User): </a:t>
            </a:r>
            <a:r>
              <a:rPr b="0">
                <a:solidFill>
                  <a:srgbClr val="CBD5E1"/>
                </a:solidFill>
              </a:rPr>
              <a:t>Perform personal Tarot &amp; Palm readings, chat with AI, view history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🃏 Tarot Reader: </a:t>
            </a:r>
            <a:r>
              <a:rPr b="0">
                <a:solidFill>
                  <a:srgbClr val="CBD5E1"/>
                </a:solidFill>
              </a:rPr>
              <a:t>Manage client readings, customize interpretations, annotate spreads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🌿 Consultant: </a:t>
            </a:r>
            <a:r>
              <a:rPr b="0">
                <a:solidFill>
                  <a:srgbClr val="CBD5E1"/>
                </a:solidFill>
              </a:rPr>
              <a:t>Access holistic life trend reports, suggest lifestyle remedies &amp; crystals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👑 Administrator: </a:t>
            </a:r>
            <a:r>
              <a:rPr b="0">
                <a:solidFill>
                  <a:srgbClr val="CBD5E1"/>
                </a:solidFill>
              </a:rPr>
              <a:t>Full user CRUD, system metrics, dataset moderation &amp; audit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12080" cy="25146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A855F7"/>
                </a:solidFill>
              </a:defRPr>
            </a:pPr>
            <a:r>
              <a:t>📈 Life Trend Analytics &amp; Opportunity Forecasting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Historical Pattern Detection: Tracks recurring Arcana suits (Cups, Wands, Swords, Pentacles) across user timeline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Emotional &amp; Career Forecasts: Identifies upcoming astrological peaks &amp; growth opportunities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Confidence &amp; Harmony Scoring: Real-time statistical confidence metrics based on line clarity &amp; card synergy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▪  Multi-Format Reporting: Instant one-click export to PDF / DOCX full spiritual dossiers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INFOSYS SPRINGBOARD MILESTONES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Comprehensive Milestone Delivery: 100% Completion (M1 - M4)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06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2487168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44752"/>
            <a:ext cx="3840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MILESTONE 1: Foundations, Polyglot DB &amp;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44752"/>
            <a:ext cx="1280160" cy="292608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10B981"/>
                </a:solidFill>
              </a:defRPr>
            </a:pPr>
            <a:r>
              <a:t>● 100% DELIVERED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55648"/>
            <a:ext cx="4983480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4983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19" b="1">
                <a:solidFill>
                  <a:srgbClr val="F8FAFC"/>
                </a:solidFill>
              </a:defRPr>
            </a:pPr>
            <a:r>
              <a:t>▪ ⚡ FastAPI Async Core: </a:t>
            </a:r>
            <a:r>
              <a:rPr b="0">
                <a:solidFill>
                  <a:srgbClr val="CBD5E1"/>
                </a:solidFill>
              </a:rPr>
              <a:t>30+ production REST endpoints with strict Pydantic v2 schemas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🗄️ Dual-Database Layer: </a:t>
            </a:r>
            <a:r>
              <a:rPr b="0">
                <a:solidFill>
                  <a:srgbClr val="CBD5E1"/>
                </a:solidFill>
              </a:rPr>
              <a:t>PostgreSQL (ACID) + MongoDB (NoSQL) + Redis (Cache/Blacklist) with SQLite fallback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🔐 Enterprise Security: </a:t>
            </a:r>
            <a:r>
              <a:rPr b="0">
                <a:solidFill>
                  <a:srgbClr val="CBD5E1"/>
                </a:solidFill>
              </a:rPr>
              <a:t>Bcrypt hashing, HMAC-SHA256 JWT tokens, Redis token blacklist &amp; CORS middleware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👥 4-Tier RBAC Engine: </a:t>
            </a:r>
            <a:r>
              <a:rPr b="0">
                <a:solidFill>
                  <a:srgbClr val="CBD5E1"/>
                </a:solidFill>
              </a:rPr>
              <a:t>Seeker, Tarot Reader, Consultant &amp; Super Admin with 12 granular permissions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📑 OpenAPI 3.0 Contracts: </a:t>
            </a:r>
            <a:r>
              <a:rPr b="0">
                <a:solidFill>
                  <a:srgbClr val="CBD5E1"/>
                </a:solidFill>
              </a:rPr>
              <a:t>Interactive Swagger UI &amp; ReDoc specs with 100% endpoint documentation parity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5257800" cy="2487168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44752"/>
            <a:ext cx="3840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MILESTONE 2: Multimodal Engines &amp; 1,000-Image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0112" y="1444752"/>
            <a:ext cx="1280160" cy="292608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10B981"/>
                </a:solidFill>
              </a:defRPr>
            </a:pPr>
            <a:r>
              <a:t>● 100%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755648"/>
            <a:ext cx="4983480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810512"/>
            <a:ext cx="4983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19" b="1">
                <a:solidFill>
                  <a:srgbClr val="F8FAFC"/>
                </a:solidFill>
              </a:defRPr>
            </a:pPr>
            <a:r>
              <a:t>▪ ✋ CV Palm Analysis Engine: </a:t>
            </a:r>
            <a:r>
              <a:rPr b="0">
                <a:solidFill>
                  <a:srgbClr val="CBD5E1"/>
                </a:solidFill>
              </a:rPr>
              <a:t>5 lines (Heart, Head, Life, Fate, Sun) with curvature, clarity &amp; depth extraction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🌿 Hand Morphology Analysis: </a:t>
            </a:r>
            <a:r>
              <a:rPr b="0">
                <a:solidFill>
                  <a:srgbClr val="CBD5E1"/>
                </a:solidFill>
              </a:rPr>
              <a:t>Earth, Air, Fire, Water elemental hand classifications &amp; trait mapping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🃏 78-Card Tarot Deck &amp; Spreads: </a:t>
            </a:r>
            <a:r>
              <a:rPr b="0">
                <a:solidFill>
                  <a:srgbClr val="CBD5E1"/>
                </a:solidFill>
              </a:rPr>
              <a:t>6 distinct spread architectures, position-specific semantics &amp; reverse orientations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📂 1,000-Image Dataset Catalog: </a:t>
            </a:r>
            <a:r>
              <a:rPr b="0">
                <a:solidFill>
                  <a:srgbClr val="CBD5E1"/>
                </a:solidFill>
              </a:rPr>
              <a:t>500 labeled palms + 500 multi-style tarot cards with search &amp; filter APIs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📷 Dual Input Mode: </a:t>
            </a:r>
            <a:r>
              <a:rPr b="0">
                <a:solidFill>
                  <a:srgbClr val="CBD5E1"/>
                </a:solidFill>
              </a:rPr>
              <a:t>Live camera scanner with HUD overlay guide + multipart image file upload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257800" cy="2487168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50791"/>
            <a:ext cx="3840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MILESTONE 3: AI Interpretation, Personality &amp;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50791"/>
            <a:ext cx="1280160" cy="292608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10B981"/>
                </a:solidFill>
              </a:defRPr>
            </a:pPr>
            <a:r>
              <a:t>● 100% 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361688"/>
            <a:ext cx="4983480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16552"/>
            <a:ext cx="4983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19" b="1">
                <a:solidFill>
                  <a:srgbClr val="F8FAFC"/>
                </a:solidFill>
              </a:defRPr>
            </a:pPr>
            <a:r>
              <a:t>▪ 🤖 Gemini 2.0 Flash LLM: </a:t>
            </a:r>
            <a:r>
              <a:rPr b="0">
                <a:solidFill>
                  <a:srgbClr val="CBD5E1"/>
                </a:solidFill>
              </a:rPr>
              <a:t>Domain-tuned prompt engineering for empathetic, mystical &amp; grounded insights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🔮 Cross-Modal Synthesis: </a:t>
            </a:r>
            <a:r>
              <a:rPr b="0">
                <a:solidFill>
                  <a:srgbClr val="CBD5E1"/>
                </a:solidFill>
              </a:rPr>
              <a:t>Deep narrative fusion synthesizing biometric palm lines with tarot card archetypes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🧠 Big Five Personality Engine: </a:t>
            </a:r>
            <a:r>
              <a:rPr b="0">
                <a:solidFill>
                  <a:srgbClr val="CBD5E1"/>
                </a:solidFill>
              </a:rPr>
              <a:t>OCEAN trait modeling + 10 spiritual archetypes with strengths &amp; behavioral patterns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📈 Life Trend Forecasting: </a:t>
            </a:r>
            <a:r>
              <a:rPr b="0">
                <a:solidFill>
                  <a:srgbClr val="CBD5E1"/>
                </a:solidFill>
              </a:rPr>
              <a:t>Tracks 5 life dimensions (Emotional, Career, Spiritual, Vitality, Creative)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⚖️ 5-Factor Weighted Scoring: </a:t>
            </a:r>
            <a:r>
              <a:rPr b="0">
                <a:solidFill>
                  <a:srgbClr val="CBD5E1"/>
                </a:solidFill>
              </a:rPr>
              <a:t>Normalized 0-100 score (30% Palm, 25% Tarot, 20% Persona, 15% Context, 10% Consistency)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977639"/>
            <a:ext cx="5257800" cy="2487168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050791"/>
            <a:ext cx="3840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MILESTONE 4: Interactive UX, Dashboards &amp;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4050791"/>
            <a:ext cx="1280160" cy="292608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10B981"/>
                </a:solidFill>
              </a:defRPr>
            </a:pPr>
            <a:r>
              <a:t>● 100% DELIVERED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792" y="4361688"/>
            <a:ext cx="4983480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416552"/>
            <a:ext cx="4983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19" b="1">
                <a:solidFill>
                  <a:srgbClr val="F8FAFC"/>
                </a:solidFill>
              </a:defRPr>
            </a:pPr>
            <a:r>
              <a:t>▪ 🃏 3D Physics Card Draw: </a:t>
            </a:r>
            <a:r>
              <a:rPr b="0">
                <a:solidFill>
                  <a:srgbClr val="CBD5E1"/>
                </a:solidFill>
              </a:rPr>
              <a:t>Interactive visual shuffle, fanning, one-by-one manual pick &amp; 3D CSS flips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💬 Conversational AI Chatbot: </a:t>
            </a:r>
            <a:r>
              <a:rPr b="0">
                <a:solidFill>
                  <a:srgbClr val="CBD5E1"/>
                </a:solidFill>
              </a:rPr>
              <a:t>Multi-turn spiritual dialogue with session memory &amp; offline rule fallback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📊 4 Role-Based Dashboards: </a:t>
            </a:r>
            <a:r>
              <a:rPr b="0">
                <a:solidFill>
                  <a:srgbClr val="CBD5E1"/>
                </a:solidFill>
              </a:rPr>
              <a:t>Tailored consoles for Seeker, Tarot Reader, Spiritual Consultant, Super Admin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📄 Multi-Format Dossier Export: </a:t>
            </a:r>
            <a:r>
              <a:rPr b="0">
                <a:solidFill>
                  <a:srgbClr val="CBD5E1"/>
                </a:solidFill>
              </a:rPr>
              <a:t>One-click export of complete spiritual guidance dossiers to PDF, DOCX, CSV &amp; JSON</a:t>
            </a:r>
          </a:p>
          <a:p>
            <a:pPr>
              <a:defRPr sz="919" b="1">
                <a:solidFill>
                  <a:srgbClr val="F8FAFC"/>
                </a:solidFill>
              </a:defRPr>
            </a:pPr>
            <a:r>
              <a:t>▪ 🧪 100% Verified Quality: </a:t>
            </a:r>
            <a:r>
              <a:rPr b="0">
                <a:solidFill>
                  <a:srgbClr val="CBD5E1"/>
                </a:solidFill>
              </a:rPr>
              <a:t>63/63 pytest automated tests passing in 3.11s + Docker Compose deploy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VERIFICATION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Quality Engineering, Test Verification &amp;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07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51206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3474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🧪 Automated Test Suite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508760"/>
            <a:ext cx="16459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</a:defRPr>
            </a:pPr>
            <a:r>
              <a:t>● 63/63 PASS (100%)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874519"/>
            <a:ext cx="4892040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48920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F8FAFC"/>
                </a:solidFill>
              </a:defRPr>
            </a:pPr>
            <a:r>
              <a:t>▪ Pytest Execution Speed: </a:t>
            </a:r>
            <a:r>
              <a:rPr b="0">
                <a:solidFill>
                  <a:srgbClr val="CBD5E1"/>
                </a:solidFill>
              </a:rPr>
              <a:t>All 63 unit and integration tests execute cleanly in ~3.11s with 0 failures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Auth &amp; Security Verification: </a:t>
            </a:r>
            <a:r>
              <a:rPr b="0">
                <a:solidFill>
                  <a:srgbClr val="CBD5E1"/>
                </a:solidFill>
              </a:rPr>
              <a:t>Validates bcrypt hashing, JWT token expiry, blacklisting &amp; RBAC permission bounds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Reading Engine Integrity: </a:t>
            </a:r>
            <a:r>
              <a:rPr b="0">
                <a:solidFill>
                  <a:srgbClr val="CBD5E1"/>
                </a:solidFill>
              </a:rPr>
              <a:t>Verifies all 6 tarot spreads, card uniqueness, elemental balance &amp; palm determinism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AI Scoring Math Validation: </a:t>
            </a:r>
            <a:r>
              <a:rPr b="0">
                <a:solidFill>
                  <a:srgbClr val="CBD5E1"/>
                </a:solidFill>
              </a:rPr>
              <a:t>Ensures strict compliance with 5-factor weighted scoring formula &amp; letter grades (A+ to D)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Data Export Fidelity: </a:t>
            </a:r>
            <a:r>
              <a:rPr b="0">
                <a:solidFill>
                  <a:srgbClr val="CBD5E1"/>
                </a:solidFill>
              </a:rPr>
              <a:t>Validates complete data export structures for CSV, JSON, and PDF dossiers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Resilience &amp; Offline Fallbacks: </a:t>
            </a:r>
            <a:r>
              <a:rPr b="0">
                <a:solidFill>
                  <a:srgbClr val="CBD5E1"/>
                </a:solidFill>
              </a:rPr>
              <a:t>Guarantees graceful degradation when Gemini API key or external DBs are offline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Strict Schema Enforcement: </a:t>
            </a:r>
            <a:r>
              <a:rPr b="0">
                <a:solidFill>
                  <a:srgbClr val="CBD5E1"/>
                </a:solidFill>
              </a:rPr>
              <a:t>Zero runtime data corruption via strict Pydantic v2 request/response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5257800" cy="51206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08760"/>
            <a:ext cx="3474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🚀 Production Infra &amp; Future Horizon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352" y="1508760"/>
            <a:ext cx="16459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38BDF8"/>
                </a:solidFill>
              </a:defRPr>
            </a:pPr>
            <a:r>
              <a:t>● ENTERPRISE 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1874519"/>
            <a:ext cx="4892040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965960"/>
            <a:ext cx="48920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F8FAFC"/>
                </a:solidFill>
              </a:defRPr>
            </a:pPr>
            <a:r>
              <a:t>▪ Docker Container Network: </a:t>
            </a:r>
            <a:r>
              <a:rPr b="0">
                <a:solidFill>
                  <a:srgbClr val="CBD5E1"/>
                </a:solidFill>
              </a:rPr>
              <a:t>Single-command containerization for PostgreSQL, MongoDB, Redis &amp; FastAPI services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Live WebRTC Palm Tracking: </a:t>
            </a:r>
            <a:r>
              <a:rPr b="0">
                <a:solidFill>
                  <a:srgbClr val="CBD5E1"/>
                </a:solidFill>
              </a:rPr>
              <a:t>Drop-in MediaPipe edge machine learning for real-time video landmark analysis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Cross-Platform Mobile Apps: </a:t>
            </a:r>
            <a:r>
              <a:rPr b="0">
                <a:solidFill>
                  <a:srgbClr val="CBD5E1"/>
                </a:solidFill>
              </a:rPr>
              <a:t>React Native iOS &amp; Android companion applications with haptic vibration card flips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Multilingual Neural Voice: </a:t>
            </a:r>
            <a:r>
              <a:rPr b="0">
                <a:solidFill>
                  <a:srgbClr val="CBD5E1"/>
                </a:solidFill>
              </a:rPr>
              <a:t>Real-time voice-guided tarot reading &amp; audio affirmations across 12+ languages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WebXR Immersive Sanctum: </a:t>
            </a:r>
            <a:r>
              <a:rPr b="0">
                <a:solidFill>
                  <a:srgbClr val="CBD5E1"/>
                </a:solidFill>
              </a:rPr>
              <a:t>3D VR spiritual sanctum supporting interactive virtual reality deck interactions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Practitioner Marketplace: </a:t>
            </a:r>
            <a:r>
              <a:rPr b="0">
                <a:solidFill>
                  <a:srgbClr val="CBD5E1"/>
                </a:solidFill>
              </a:rPr>
              <a:t>Live video consultation booking system with verified professional tarot readers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▪ Continuous Cloud Delivery: </a:t>
            </a:r>
            <a:r>
              <a:rPr b="0">
                <a:solidFill>
                  <a:srgbClr val="CBD5E1"/>
                </a:solidFill>
              </a:rPr>
              <a:t>Automated GitHub Actions CI/CD pipeline targeting Vercel &amp; Railway/Render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